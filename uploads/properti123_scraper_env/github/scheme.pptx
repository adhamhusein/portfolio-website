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3872-C6CB-FFDC-09C9-BFB5A7E19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BA121-1CCE-A342-743B-A25689421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F17D-7596-0C89-062A-DD5B0AF5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7CA68-1C7F-6D26-2F67-DB8CD016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8CC32-4E9D-F0C9-65AF-D5F024CB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062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64AF-AC41-046A-A1E8-277FCF49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38914-7785-0641-D444-263E1992A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56ED7-DB81-1358-AD6F-1E069D1B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79444-3363-71BD-BFDF-B37D70FB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4A99-4A59-211C-D25D-E981CC34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211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83FF-E871-0949-22C3-0DACE594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000F9-1D0E-6B71-89A2-8EB2D0078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B9476-0914-4BAD-FC78-791C6827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FFB84-3D1E-A9ED-C5C3-2116172A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C80A-8966-947A-46B1-1ADD8F0F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740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2714-BB5B-AADE-D078-B5C5B16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9B94-128A-8BCC-C7F7-DCF74CD07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09F12-E50A-0C7D-F061-45C77EEA9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5CD04-C0EB-328A-830E-AC8FCEAF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1126C-43E5-C295-A99B-448214C7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E605C-B36C-2CEF-6FFF-81AC39DA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012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7E83-A5DC-595F-AA0F-5CCDC028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AED12-4947-B0D3-2813-BBCF11BBC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7A6DA-B217-0EA4-339F-87CF850B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69FE9-E737-E4CC-0458-E32D046ED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DD5C7-7F8C-709A-92A7-23F20E8A3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A4453-A46F-7884-3256-07138C80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A4DC9-FC63-E74D-C90F-D6DAEF61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7B6A4-F30E-9A9B-0A43-687BAACA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E0D5-AFA1-D61C-37E1-1F8F8338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6F311-346D-BD6A-D97E-E9C96749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4FD7C-C7FC-DA2A-49B8-EC7401EA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C7B3D-A3C9-78D4-FF34-FBEFEB7F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49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52368-5C5A-9F56-89CD-7697B7E9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5A4C6-A037-3BEC-B067-3B7EC400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DF8EE-082F-A99F-5801-D30F97B8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553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F364-7F6F-B7E0-1F79-978D7FEB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6CE35-94CE-173D-B7D1-0494D8F14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5A48D-D44A-BDCF-AEBE-7E91F28EB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9A61-9D14-F77F-4F52-53A58F30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1A861-D32E-4A22-2649-9C6311A0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4D3D2-BD83-3448-558A-B950F569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244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6D10-3984-1E3F-498D-FFA0872C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F4C7A-29B4-3E96-099C-D06A23519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73372-6CA5-6CC2-73E4-50A28DF22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2BD0-06EF-96F6-97C9-1692A60E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6D5F3-5594-F1C0-7991-6A31B167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3A9FB-C2F5-5E05-FDCA-D0CC33B1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126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A15B-CE59-3106-BC80-2CF72905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1E076-39D1-A638-613D-8EF038FF1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C44AA-08BD-0E51-ACB4-ED9A4FBA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14334-ACCE-0B90-19AB-016D7EF0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7831-8D78-AAFA-041D-72943DC5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68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07D07-2AEB-1309-845B-D9FE94DC7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491FE-F004-BC95-D366-031AB3043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03D0C-1829-7008-BDB6-F64AFBCA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115E2-6AE6-07D8-AE88-68CA4261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BFFC-2B1D-F02C-4A64-1BE413BD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339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365080-33E9-FBE5-D72F-B77975A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A8E52-D353-C738-A008-C36BD480A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893D4-556B-4A1C-C98B-75621723C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CC6A7-0FA2-93DF-F488-6954111D7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92DB-DC52-3C15-7001-82EC97EFA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021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70AB0-B6C4-635E-F8F1-C876CCA2AA1B}"/>
              </a:ext>
            </a:extLst>
          </p:cNvPr>
          <p:cNvSpPr txBox="1"/>
          <p:nvPr/>
        </p:nvSpPr>
        <p:spPr>
          <a:xfrm>
            <a:off x="1455111" y="180109"/>
            <a:ext cx="873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Bahnschrift" panose="020B0502040204020203" pitchFamily="34" charset="0"/>
                <a:cs typeface="Arial" panose="020B0604020202020204" pitchFamily="34" charset="0"/>
              </a:rPr>
              <a:t>End-to-End Property Data Solutions: From Acquisition to Visualization and Insights</a:t>
            </a:r>
            <a:endParaRPr lang="en-ID" b="1" u="sng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95C58C36-9A75-C767-AA08-FBBDEDC46003}"/>
              </a:ext>
            </a:extLst>
          </p:cNvPr>
          <p:cNvGrpSpPr/>
          <p:nvPr/>
        </p:nvGrpSpPr>
        <p:grpSpPr>
          <a:xfrm>
            <a:off x="852617" y="761405"/>
            <a:ext cx="9940072" cy="5514704"/>
            <a:chOff x="1226692" y="761405"/>
            <a:chExt cx="9940072" cy="55147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E16C7C-9C43-ADD6-83B6-418CE1ECA099}"/>
                </a:ext>
              </a:extLst>
            </p:cNvPr>
            <p:cNvSpPr/>
            <p:nvPr/>
          </p:nvSpPr>
          <p:spPr>
            <a:xfrm>
              <a:off x="4467616" y="1281995"/>
              <a:ext cx="6699148" cy="4994114"/>
            </a:xfrm>
            <a:custGeom>
              <a:avLst/>
              <a:gdLst>
                <a:gd name="connsiteX0" fmla="*/ 0 w 6699148"/>
                <a:gd name="connsiteY0" fmla="*/ 0 h 4994114"/>
                <a:gd name="connsiteX1" fmla="*/ 736906 w 6699148"/>
                <a:gd name="connsiteY1" fmla="*/ 0 h 4994114"/>
                <a:gd name="connsiteX2" fmla="*/ 1473813 w 6699148"/>
                <a:gd name="connsiteY2" fmla="*/ 0 h 4994114"/>
                <a:gd name="connsiteX3" fmla="*/ 1942753 w 6699148"/>
                <a:gd name="connsiteY3" fmla="*/ 0 h 4994114"/>
                <a:gd name="connsiteX4" fmla="*/ 2478685 w 6699148"/>
                <a:gd name="connsiteY4" fmla="*/ 0 h 4994114"/>
                <a:gd name="connsiteX5" fmla="*/ 3148600 w 6699148"/>
                <a:gd name="connsiteY5" fmla="*/ 0 h 4994114"/>
                <a:gd name="connsiteX6" fmla="*/ 3684531 w 6699148"/>
                <a:gd name="connsiteY6" fmla="*/ 0 h 4994114"/>
                <a:gd name="connsiteX7" fmla="*/ 4220463 w 6699148"/>
                <a:gd name="connsiteY7" fmla="*/ 0 h 4994114"/>
                <a:gd name="connsiteX8" fmla="*/ 5024361 w 6699148"/>
                <a:gd name="connsiteY8" fmla="*/ 0 h 4994114"/>
                <a:gd name="connsiteX9" fmla="*/ 5761267 w 6699148"/>
                <a:gd name="connsiteY9" fmla="*/ 0 h 4994114"/>
                <a:gd name="connsiteX10" fmla="*/ 6699148 w 6699148"/>
                <a:gd name="connsiteY10" fmla="*/ 0 h 4994114"/>
                <a:gd name="connsiteX11" fmla="*/ 6699148 w 6699148"/>
                <a:gd name="connsiteY11" fmla="*/ 474441 h 4994114"/>
                <a:gd name="connsiteX12" fmla="*/ 6699148 w 6699148"/>
                <a:gd name="connsiteY12" fmla="*/ 1098705 h 4994114"/>
                <a:gd name="connsiteX13" fmla="*/ 6699148 w 6699148"/>
                <a:gd name="connsiteY13" fmla="*/ 1673028 h 4994114"/>
                <a:gd name="connsiteX14" fmla="*/ 6699148 w 6699148"/>
                <a:gd name="connsiteY14" fmla="*/ 2297292 h 4994114"/>
                <a:gd name="connsiteX15" fmla="*/ 6699148 w 6699148"/>
                <a:gd name="connsiteY15" fmla="*/ 2971498 h 4994114"/>
                <a:gd name="connsiteX16" fmla="*/ 6699148 w 6699148"/>
                <a:gd name="connsiteY16" fmla="*/ 3445939 h 4994114"/>
                <a:gd name="connsiteX17" fmla="*/ 6699148 w 6699148"/>
                <a:gd name="connsiteY17" fmla="*/ 3920379 h 4994114"/>
                <a:gd name="connsiteX18" fmla="*/ 6699148 w 6699148"/>
                <a:gd name="connsiteY18" fmla="*/ 4994114 h 4994114"/>
                <a:gd name="connsiteX19" fmla="*/ 6096225 w 6699148"/>
                <a:gd name="connsiteY19" fmla="*/ 4994114 h 4994114"/>
                <a:gd name="connsiteX20" fmla="*/ 5292327 w 6699148"/>
                <a:gd name="connsiteY20" fmla="*/ 4994114 h 4994114"/>
                <a:gd name="connsiteX21" fmla="*/ 4555421 w 6699148"/>
                <a:gd name="connsiteY21" fmla="*/ 4994114 h 4994114"/>
                <a:gd name="connsiteX22" fmla="*/ 3952497 w 6699148"/>
                <a:gd name="connsiteY22" fmla="*/ 4994114 h 4994114"/>
                <a:gd name="connsiteX23" fmla="*/ 3282583 w 6699148"/>
                <a:gd name="connsiteY23" fmla="*/ 4994114 h 4994114"/>
                <a:gd name="connsiteX24" fmla="*/ 2813642 w 6699148"/>
                <a:gd name="connsiteY24" fmla="*/ 4994114 h 4994114"/>
                <a:gd name="connsiteX25" fmla="*/ 2076736 w 6699148"/>
                <a:gd name="connsiteY25" fmla="*/ 4994114 h 4994114"/>
                <a:gd name="connsiteX26" fmla="*/ 1406821 w 6699148"/>
                <a:gd name="connsiteY26" fmla="*/ 4994114 h 4994114"/>
                <a:gd name="connsiteX27" fmla="*/ 803898 w 6699148"/>
                <a:gd name="connsiteY27" fmla="*/ 4994114 h 4994114"/>
                <a:gd name="connsiteX28" fmla="*/ 0 w 6699148"/>
                <a:gd name="connsiteY28" fmla="*/ 4994114 h 4994114"/>
                <a:gd name="connsiteX29" fmla="*/ 0 w 6699148"/>
                <a:gd name="connsiteY29" fmla="*/ 4319909 h 4994114"/>
                <a:gd name="connsiteX30" fmla="*/ 0 w 6699148"/>
                <a:gd name="connsiteY30" fmla="*/ 3695644 h 4994114"/>
                <a:gd name="connsiteX31" fmla="*/ 0 w 6699148"/>
                <a:gd name="connsiteY31" fmla="*/ 3171262 h 4994114"/>
                <a:gd name="connsiteX32" fmla="*/ 0 w 6699148"/>
                <a:gd name="connsiteY32" fmla="*/ 2696822 h 4994114"/>
                <a:gd name="connsiteX33" fmla="*/ 0 w 6699148"/>
                <a:gd name="connsiteY33" fmla="*/ 2022616 h 4994114"/>
                <a:gd name="connsiteX34" fmla="*/ 0 w 6699148"/>
                <a:gd name="connsiteY34" fmla="*/ 1398352 h 4994114"/>
                <a:gd name="connsiteX35" fmla="*/ 0 w 6699148"/>
                <a:gd name="connsiteY35" fmla="*/ 873970 h 4994114"/>
                <a:gd name="connsiteX36" fmla="*/ 0 w 6699148"/>
                <a:gd name="connsiteY36" fmla="*/ 0 h 499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99148" h="4994114" extrusionOk="0">
                  <a:moveTo>
                    <a:pt x="0" y="0"/>
                  </a:moveTo>
                  <a:cubicBezTo>
                    <a:pt x="236841" y="-6490"/>
                    <a:pt x="578234" y="1364"/>
                    <a:pt x="736906" y="0"/>
                  </a:cubicBezTo>
                  <a:cubicBezTo>
                    <a:pt x="895578" y="-1364"/>
                    <a:pt x="1269784" y="-377"/>
                    <a:pt x="1473813" y="0"/>
                  </a:cubicBezTo>
                  <a:cubicBezTo>
                    <a:pt x="1677842" y="377"/>
                    <a:pt x="1738657" y="-16397"/>
                    <a:pt x="1942753" y="0"/>
                  </a:cubicBezTo>
                  <a:cubicBezTo>
                    <a:pt x="2146849" y="16397"/>
                    <a:pt x="2327758" y="6124"/>
                    <a:pt x="2478685" y="0"/>
                  </a:cubicBezTo>
                  <a:cubicBezTo>
                    <a:pt x="2629612" y="-6124"/>
                    <a:pt x="2932975" y="496"/>
                    <a:pt x="3148600" y="0"/>
                  </a:cubicBezTo>
                  <a:cubicBezTo>
                    <a:pt x="3364225" y="-496"/>
                    <a:pt x="3506122" y="-23482"/>
                    <a:pt x="3684531" y="0"/>
                  </a:cubicBezTo>
                  <a:cubicBezTo>
                    <a:pt x="3862940" y="23482"/>
                    <a:pt x="4112150" y="-20053"/>
                    <a:pt x="4220463" y="0"/>
                  </a:cubicBezTo>
                  <a:cubicBezTo>
                    <a:pt x="4328776" y="20053"/>
                    <a:pt x="4858715" y="-14990"/>
                    <a:pt x="5024361" y="0"/>
                  </a:cubicBezTo>
                  <a:cubicBezTo>
                    <a:pt x="5190007" y="14990"/>
                    <a:pt x="5451003" y="-4981"/>
                    <a:pt x="5761267" y="0"/>
                  </a:cubicBezTo>
                  <a:cubicBezTo>
                    <a:pt x="6071531" y="4981"/>
                    <a:pt x="6383737" y="-19959"/>
                    <a:pt x="6699148" y="0"/>
                  </a:cubicBezTo>
                  <a:cubicBezTo>
                    <a:pt x="6681444" y="98110"/>
                    <a:pt x="6710791" y="237710"/>
                    <a:pt x="6699148" y="474441"/>
                  </a:cubicBezTo>
                  <a:cubicBezTo>
                    <a:pt x="6687505" y="711172"/>
                    <a:pt x="6670767" y="793154"/>
                    <a:pt x="6699148" y="1098705"/>
                  </a:cubicBezTo>
                  <a:cubicBezTo>
                    <a:pt x="6727529" y="1404256"/>
                    <a:pt x="6706072" y="1403853"/>
                    <a:pt x="6699148" y="1673028"/>
                  </a:cubicBezTo>
                  <a:cubicBezTo>
                    <a:pt x="6692224" y="1942203"/>
                    <a:pt x="6669297" y="2167700"/>
                    <a:pt x="6699148" y="2297292"/>
                  </a:cubicBezTo>
                  <a:cubicBezTo>
                    <a:pt x="6728999" y="2426884"/>
                    <a:pt x="6685219" y="2800748"/>
                    <a:pt x="6699148" y="2971498"/>
                  </a:cubicBezTo>
                  <a:cubicBezTo>
                    <a:pt x="6713077" y="3142248"/>
                    <a:pt x="6694644" y="3285913"/>
                    <a:pt x="6699148" y="3445939"/>
                  </a:cubicBezTo>
                  <a:cubicBezTo>
                    <a:pt x="6703652" y="3605965"/>
                    <a:pt x="6702281" y="3710378"/>
                    <a:pt x="6699148" y="3920379"/>
                  </a:cubicBezTo>
                  <a:cubicBezTo>
                    <a:pt x="6696015" y="4130380"/>
                    <a:pt x="6662550" y="4571700"/>
                    <a:pt x="6699148" y="4994114"/>
                  </a:cubicBezTo>
                  <a:cubicBezTo>
                    <a:pt x="6457617" y="4996380"/>
                    <a:pt x="6240305" y="4971233"/>
                    <a:pt x="6096225" y="4994114"/>
                  </a:cubicBezTo>
                  <a:cubicBezTo>
                    <a:pt x="5952145" y="5016995"/>
                    <a:pt x="5453345" y="4990683"/>
                    <a:pt x="5292327" y="4994114"/>
                  </a:cubicBezTo>
                  <a:cubicBezTo>
                    <a:pt x="5131309" y="4997545"/>
                    <a:pt x="4751425" y="4998167"/>
                    <a:pt x="4555421" y="4994114"/>
                  </a:cubicBezTo>
                  <a:cubicBezTo>
                    <a:pt x="4359417" y="4990061"/>
                    <a:pt x="4144002" y="5013962"/>
                    <a:pt x="3952497" y="4994114"/>
                  </a:cubicBezTo>
                  <a:cubicBezTo>
                    <a:pt x="3760992" y="4974266"/>
                    <a:pt x="3564100" y="4978716"/>
                    <a:pt x="3282583" y="4994114"/>
                  </a:cubicBezTo>
                  <a:cubicBezTo>
                    <a:pt x="3001066" y="5009512"/>
                    <a:pt x="2999997" y="4992402"/>
                    <a:pt x="2813642" y="4994114"/>
                  </a:cubicBezTo>
                  <a:cubicBezTo>
                    <a:pt x="2627287" y="4995826"/>
                    <a:pt x="2408955" y="4963822"/>
                    <a:pt x="2076736" y="4994114"/>
                  </a:cubicBezTo>
                  <a:cubicBezTo>
                    <a:pt x="1744517" y="5024406"/>
                    <a:pt x="1735392" y="4994733"/>
                    <a:pt x="1406821" y="4994114"/>
                  </a:cubicBezTo>
                  <a:cubicBezTo>
                    <a:pt x="1078251" y="4993495"/>
                    <a:pt x="1048961" y="5011326"/>
                    <a:pt x="803898" y="4994114"/>
                  </a:cubicBezTo>
                  <a:cubicBezTo>
                    <a:pt x="558835" y="4976902"/>
                    <a:pt x="350010" y="5007384"/>
                    <a:pt x="0" y="4994114"/>
                  </a:cubicBezTo>
                  <a:cubicBezTo>
                    <a:pt x="30454" y="4780949"/>
                    <a:pt x="13554" y="4511930"/>
                    <a:pt x="0" y="4319909"/>
                  </a:cubicBezTo>
                  <a:cubicBezTo>
                    <a:pt x="-13554" y="4127889"/>
                    <a:pt x="-3674" y="3853533"/>
                    <a:pt x="0" y="3695644"/>
                  </a:cubicBezTo>
                  <a:cubicBezTo>
                    <a:pt x="3674" y="3537755"/>
                    <a:pt x="-18192" y="3424236"/>
                    <a:pt x="0" y="3171262"/>
                  </a:cubicBezTo>
                  <a:cubicBezTo>
                    <a:pt x="18192" y="2918288"/>
                    <a:pt x="2574" y="2831433"/>
                    <a:pt x="0" y="2696822"/>
                  </a:cubicBezTo>
                  <a:cubicBezTo>
                    <a:pt x="-2574" y="2562211"/>
                    <a:pt x="-15321" y="2327299"/>
                    <a:pt x="0" y="2022616"/>
                  </a:cubicBezTo>
                  <a:cubicBezTo>
                    <a:pt x="15321" y="1717933"/>
                    <a:pt x="-29128" y="1652469"/>
                    <a:pt x="0" y="1398352"/>
                  </a:cubicBezTo>
                  <a:cubicBezTo>
                    <a:pt x="29128" y="1144235"/>
                    <a:pt x="7302" y="1084922"/>
                    <a:pt x="0" y="873970"/>
                  </a:cubicBezTo>
                  <a:cubicBezTo>
                    <a:pt x="-7302" y="663018"/>
                    <a:pt x="1735" y="326506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43956029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9D8D50-088E-2956-540C-9F6D07D51399}"/>
                </a:ext>
              </a:extLst>
            </p:cNvPr>
            <p:cNvGrpSpPr/>
            <p:nvPr/>
          </p:nvGrpSpPr>
          <p:grpSpPr>
            <a:xfrm>
              <a:off x="1226692" y="2618657"/>
              <a:ext cx="2314963" cy="1263435"/>
              <a:chOff x="848067" y="1729886"/>
              <a:chExt cx="2314963" cy="126343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B20B7C2-3F32-B793-017D-D9343C5D7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7719" y="172988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D4BEC0-BF81-4007-C840-2FB9722981E6}"/>
                  </a:ext>
                </a:extLst>
              </p:cNvPr>
              <p:cNvSpPr txBox="1"/>
              <p:nvPr/>
            </p:nvSpPr>
            <p:spPr>
              <a:xfrm>
                <a:off x="848067" y="2685544"/>
                <a:ext cx="23149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D" sz="1400" dirty="0">
                    <a:latin typeface="Bahnschrift" panose="020B0502040204020203" pitchFamily="34" charset="0"/>
                  </a:rPr>
                  <a:t>https://properti123.com/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29C2206-3662-6887-FB20-D97EB4C90F69}"/>
                </a:ext>
              </a:extLst>
            </p:cNvPr>
            <p:cNvGrpSpPr/>
            <p:nvPr/>
          </p:nvGrpSpPr>
          <p:grpSpPr>
            <a:xfrm>
              <a:off x="6659165" y="761405"/>
              <a:ext cx="2800864" cy="415942"/>
              <a:chOff x="6683216" y="1166504"/>
              <a:chExt cx="2800864" cy="41594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F834581-D154-4C26-B9D1-8F2CE7F65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3216" y="1166504"/>
                <a:ext cx="415942" cy="41594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E0AA1F-4BF1-F509-9B36-D2C84CF4F298}"/>
                  </a:ext>
                </a:extLst>
              </p:cNvPr>
              <p:cNvSpPr txBox="1"/>
              <p:nvPr/>
            </p:nvSpPr>
            <p:spPr>
              <a:xfrm>
                <a:off x="7169117" y="1189809"/>
                <a:ext cx="2314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Bahnschrift" panose="020B0502040204020203" pitchFamily="34" charset="0"/>
                  </a:rPr>
                  <a:t>v</a:t>
                </a:r>
                <a:r>
                  <a:rPr lang="en-ID" b="1" dirty="0" err="1">
                    <a:latin typeface="Bahnschrift" panose="020B0502040204020203" pitchFamily="34" charset="0"/>
                  </a:rPr>
                  <a:t>ps</a:t>
                </a:r>
                <a:r>
                  <a:rPr lang="en-ID" b="1" dirty="0">
                    <a:latin typeface="Bahnschrift" panose="020B0502040204020203" pitchFamily="34" charset="0"/>
                  </a:rPr>
                  <a:t>: ubuntu server</a:t>
                </a:r>
              </a:p>
            </p:txBody>
          </p: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135C37F4-FD14-2A79-8BA4-32829B65822F}"/>
                </a:ext>
              </a:extLst>
            </p:cNvPr>
            <p:cNvGrpSpPr/>
            <p:nvPr/>
          </p:nvGrpSpPr>
          <p:grpSpPr>
            <a:xfrm>
              <a:off x="1372658" y="4723214"/>
              <a:ext cx="1920240" cy="1264623"/>
              <a:chOff x="848067" y="4837891"/>
              <a:chExt cx="2314963" cy="15245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1A1DE02-8539-825D-C50F-A50E1CD685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348" y="483789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AFA00F-E2E9-E6FA-6E55-77CD4BF7D204}"/>
                  </a:ext>
                </a:extLst>
              </p:cNvPr>
              <p:cNvSpPr txBox="1"/>
              <p:nvPr/>
            </p:nvSpPr>
            <p:spPr>
              <a:xfrm>
                <a:off x="848067" y="5768800"/>
                <a:ext cx="2314963" cy="593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Bahnschrift" panose="020B0502040204020203" pitchFamily="34" charset="0"/>
                  </a:rPr>
                  <a:t>Line Bot: </a:t>
                </a:r>
              </a:p>
              <a:p>
                <a:pPr algn="ctr"/>
                <a:r>
                  <a:rPr lang="en-US" sz="1200" dirty="0">
                    <a:latin typeface="Bahnschrift" panose="020B0502040204020203" pitchFamily="34" charset="0"/>
                  </a:rPr>
                  <a:t>Send Message to User</a:t>
                </a:r>
                <a:endParaRPr lang="en-ID" sz="1200" dirty="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FD1E94F5-18B4-70F3-45E2-056359A925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17028" y="1616447"/>
              <a:ext cx="2277352" cy="686233"/>
              <a:chOff x="8380950" y="1497701"/>
              <a:chExt cx="1808079" cy="64614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2109131-E37A-A26D-27BB-C26374D56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80950" y="1497701"/>
                <a:ext cx="646149" cy="646149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B3A23A-F006-3F73-FCC9-FA2E5D68C397}"/>
                  </a:ext>
                </a:extLst>
              </p:cNvPr>
              <p:cNvSpPr txBox="1"/>
              <p:nvPr/>
            </p:nvSpPr>
            <p:spPr>
              <a:xfrm>
                <a:off x="9060256" y="1594686"/>
                <a:ext cx="1128773" cy="49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Bahnschrift" panose="020B0502040204020203" pitchFamily="34" charset="0"/>
                  </a:rPr>
                  <a:t>PostgreSQL Database</a:t>
                </a:r>
                <a:endParaRPr lang="en-ID" sz="1400" dirty="0"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12B8CE-35C6-5618-3118-0493C4315691}"/>
                </a:ext>
              </a:extLst>
            </p:cNvPr>
            <p:cNvSpPr txBox="1"/>
            <p:nvPr/>
          </p:nvSpPr>
          <p:spPr>
            <a:xfrm>
              <a:off x="8353234" y="4569242"/>
              <a:ext cx="2286000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property_address</a:t>
              </a:r>
              <a:endParaRPr lang="en-ID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D76A6C0-4984-5313-DDB8-B95D39EEE8E7}"/>
                </a:ext>
              </a:extLst>
            </p:cNvPr>
            <p:cNvCxnSpPr>
              <a:cxnSpLocks/>
              <a:stCxn id="6" idx="3"/>
              <a:endCxn id="40" idx="1"/>
            </p:cNvCxnSpPr>
            <p:nvPr/>
          </p:nvCxnSpPr>
          <p:spPr>
            <a:xfrm flipV="1">
              <a:off x="2820744" y="2602625"/>
              <a:ext cx="2056716" cy="47323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E31B76A9-6E57-AD85-1AC3-7132BBC4679F}"/>
                </a:ext>
              </a:extLst>
            </p:cNvPr>
            <p:cNvCxnSpPr>
              <a:cxnSpLocks/>
              <a:stCxn id="6" idx="3"/>
              <a:endCxn id="1032" idx="1"/>
            </p:cNvCxnSpPr>
            <p:nvPr/>
          </p:nvCxnSpPr>
          <p:spPr>
            <a:xfrm>
              <a:off x="2820744" y="3075857"/>
              <a:ext cx="2056716" cy="546626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F23C5C23-1140-043D-FBDB-2C48CA49365B}"/>
                </a:ext>
              </a:extLst>
            </p:cNvPr>
            <p:cNvGrpSpPr/>
            <p:nvPr/>
          </p:nvGrpSpPr>
          <p:grpSpPr>
            <a:xfrm>
              <a:off x="4877459" y="1466923"/>
              <a:ext cx="1920241" cy="4576147"/>
              <a:chOff x="5128876" y="1410573"/>
              <a:chExt cx="1920241" cy="4576147"/>
            </a:xfrm>
          </p:grpSpPr>
          <p:grpSp>
            <p:nvGrpSpPr>
              <p:cNvPr id="1119" name="Group 1118">
                <a:extLst>
                  <a:ext uri="{FF2B5EF4-FFF2-40B4-BE49-F238E27FC236}">
                    <a16:creationId xmlns:a16="http://schemas.microsoft.com/office/drawing/2014/main" id="{C2164D51-0C30-0A18-F9FA-098417C111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128876" y="1410573"/>
                <a:ext cx="1920240" cy="568581"/>
                <a:chOff x="7990671" y="5292192"/>
                <a:chExt cx="3193839" cy="945692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EA6E1314-8778-FE27-2077-41F10471ED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0671" y="5323484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118" name="Group 1117">
                  <a:extLst>
                    <a:ext uri="{FF2B5EF4-FFF2-40B4-BE49-F238E27FC236}">
                      <a16:creationId xmlns:a16="http://schemas.microsoft.com/office/drawing/2014/main" id="{4DE60210-8127-1F31-A536-ADBC78C0647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91216" y="5292192"/>
                  <a:ext cx="2293294" cy="914400"/>
                  <a:chOff x="8254114" y="5006530"/>
                  <a:chExt cx="1949791" cy="777436"/>
                </a:xfrm>
              </p:grpSpPr>
              <p:grpSp>
                <p:nvGrpSpPr>
                  <p:cNvPr id="1117" name="Group 1116">
                    <a:extLst>
                      <a:ext uri="{FF2B5EF4-FFF2-40B4-BE49-F238E27FC236}">
                        <a16:creationId xmlns:a16="http://schemas.microsoft.com/office/drawing/2014/main" id="{5011EB18-742B-7763-68F2-6FDFF239534E}"/>
                      </a:ext>
                    </a:extLst>
                  </p:cNvPr>
                  <p:cNvGrpSpPr/>
                  <p:nvPr/>
                </p:nvGrpSpPr>
                <p:grpSpPr>
                  <a:xfrm>
                    <a:off x="8832305" y="5006530"/>
                    <a:ext cx="1371600" cy="758223"/>
                    <a:chOff x="8832305" y="5006530"/>
                    <a:chExt cx="1371600" cy="758223"/>
                  </a:xfrm>
                </p:grpSpPr>
                <p:pic>
                  <p:nvPicPr>
                    <p:cNvPr id="1028" name="Picture 4" descr="GitHub - seatgeek/thefuzz: Fuzzy String Matching in Python">
                      <a:extLst>
                        <a:ext uri="{FF2B5EF4-FFF2-40B4-BE49-F238E27FC236}">
                          <a16:creationId xmlns:a16="http://schemas.microsoft.com/office/drawing/2014/main" id="{31AE038B-1F01-02C7-B81C-3A45F01E7E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b="50000"/>
                    <a:stretch/>
                  </p:blipFill>
                  <p:spPr bwMode="auto">
                    <a:xfrm>
                      <a:off x="8832305" y="5421853"/>
                      <a:ext cx="1371600" cy="3429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" name="Picture 18">
                      <a:extLst>
                        <a:ext uri="{FF2B5EF4-FFF2-40B4-BE49-F238E27FC236}">
                          <a16:creationId xmlns:a16="http://schemas.microsoft.com/office/drawing/2014/main" id="{4456EEBF-BA45-ECF4-ABB8-30534C40EE9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BEBA8EAE-BF5A-486C-A8C5-ECC9F3942E4B}">
                          <a14:imgProps xmlns:a14="http://schemas.microsoft.com/office/drawing/2010/main">
                            <a14:imgLayer r:embed="rId9">
                              <a14:imgEffect>
                                <a14:backgroundRemoval t="10000" b="90000" l="10000" r="90000">
                                  <a14:foregroundMark x1="13120" y1="50340" x2="13120" y2="50340"/>
                                  <a14:foregroundMark x1="22449" y1="53741" x2="22449" y2="53741"/>
                                  <a14:foregroundMark x1="30029" y1="53741" x2="30029" y2="53741"/>
                                  <a14:foregroundMark x1="33236" y1="57143" x2="33236" y2="57143"/>
                                  <a14:foregroundMark x1="40525" y1="44898" x2="40525" y2="44898"/>
                                  <a14:foregroundMark x1="45481" y1="51020" x2="45481" y2="51020"/>
                                  <a14:foregroundMark x1="45481" y1="41497" x2="45481" y2="41497"/>
                                  <a14:foregroundMark x1="49563" y1="46259" x2="49563" y2="46259"/>
                                  <a14:foregroundMark x1="53061" y1="53061" x2="53061" y2="53061"/>
                                  <a14:foregroundMark x1="58892" y1="55102" x2="58892" y2="55102"/>
                                  <a14:foregroundMark x1="61808" y1="50340" x2="61808" y2="50340"/>
                                  <a14:foregroundMark x1="68513" y1="53741" x2="68513" y2="53741"/>
                                  <a14:foregroundMark x1="79300" y1="57823" x2="79300" y2="57823"/>
                                  <a14:foregroundMark x1="85714" y1="57823" x2="85714" y2="57823"/>
                                </a14:backgroundRemoval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32305" y="5006530"/>
                      <a:ext cx="1371600" cy="58782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26" name="Picture 2" descr="The Psycopg Team · GitHub">
                    <a:extLst>
                      <a:ext uri="{FF2B5EF4-FFF2-40B4-BE49-F238E27FC236}">
                        <a16:creationId xmlns:a16="http://schemas.microsoft.com/office/drawing/2014/main" id="{B744E30B-20CA-6279-EB99-93D37D655F2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254114" y="5108790"/>
                    <a:ext cx="675176" cy="67517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943C4654-9FCC-8BCA-A498-B48F09A56154}"/>
                  </a:ext>
                </a:extLst>
              </p:cNvPr>
              <p:cNvGrpSpPr/>
              <p:nvPr/>
            </p:nvGrpSpPr>
            <p:grpSpPr>
              <a:xfrm>
                <a:off x="5128877" y="2246193"/>
                <a:ext cx="1920240" cy="3740527"/>
                <a:chOff x="4872825" y="1697528"/>
                <a:chExt cx="1920240" cy="3740527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576B441-F6F9-5FBF-1CF5-F11D16DB98A5}"/>
                    </a:ext>
                  </a:extLst>
                </p:cNvPr>
                <p:cNvSpPr txBox="1"/>
                <p:nvPr/>
              </p:nvSpPr>
              <p:spPr>
                <a:xfrm>
                  <a:off x="4872825" y="1697528"/>
                  <a:ext cx="1920240" cy="6001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PropertyLinkUpdater.py</a:t>
                  </a:r>
                </a:p>
                <a:p>
                  <a:pPr algn="ctr"/>
                  <a:r>
                    <a:rPr lang="en-US" sz="1050" dirty="0"/>
                    <a:t>Retrieve new link daily updated using </a:t>
                  </a:r>
                  <a:r>
                    <a:rPr lang="en-US" sz="1050" b="1" dirty="0"/>
                    <a:t>crontab</a:t>
                  </a:r>
                  <a:endParaRPr lang="en-ID" sz="1050" b="1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032" name="TextBox 1031">
                  <a:extLst>
                    <a:ext uri="{FF2B5EF4-FFF2-40B4-BE49-F238E27FC236}">
                      <a16:creationId xmlns:a16="http://schemas.microsoft.com/office/drawing/2014/main" id="{61EC7B0A-C0CE-8143-7238-07922BCE3775}"/>
                    </a:ext>
                  </a:extLst>
                </p:cNvPr>
                <p:cNvSpPr txBox="1"/>
                <p:nvPr/>
              </p:nvSpPr>
              <p:spPr>
                <a:xfrm>
                  <a:off x="4872825" y="2636594"/>
                  <a:ext cx="1920240" cy="76174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PropertyDetilUpdater.py</a:t>
                  </a:r>
                </a:p>
                <a:p>
                  <a:pPr algn="ctr"/>
                  <a:r>
                    <a:rPr lang="en-US" sz="1050" dirty="0"/>
                    <a:t>Retrieve all detailed data (price, address, </a:t>
                  </a:r>
                  <a:r>
                    <a:rPr lang="en-US" sz="1050" dirty="0" err="1"/>
                    <a:t>etc</a:t>
                  </a:r>
                  <a:r>
                    <a:rPr lang="en-US" sz="1050" dirty="0"/>
                    <a:t>) from each link and store into table</a:t>
                  </a:r>
                  <a:endParaRPr lang="en-ID" sz="1050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041" name="TextBox 1040">
                  <a:extLst>
                    <a:ext uri="{FF2B5EF4-FFF2-40B4-BE49-F238E27FC236}">
                      <a16:creationId xmlns:a16="http://schemas.microsoft.com/office/drawing/2014/main" id="{244A2F87-50F1-20C3-6465-2D14091D8677}"/>
                    </a:ext>
                  </a:extLst>
                </p:cNvPr>
                <p:cNvSpPr txBox="1"/>
                <p:nvPr/>
              </p:nvSpPr>
              <p:spPr>
                <a:xfrm>
                  <a:off x="4872825" y="3737243"/>
                  <a:ext cx="1920240" cy="76174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AddressMatching.py</a:t>
                  </a:r>
                </a:p>
                <a:p>
                  <a:pPr algn="ctr"/>
                  <a:r>
                    <a:rPr lang="en-US" sz="1050" dirty="0"/>
                    <a:t>Convert property address into standard Indonesian Address using </a:t>
                  </a:r>
                  <a:r>
                    <a:rPr lang="en-US" sz="1050" b="1" dirty="0"/>
                    <a:t>Fuzzy String Matching</a:t>
                  </a:r>
                  <a:endParaRPr lang="en-ID" sz="1050" b="1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7F37FD3E-FB19-A89B-E866-FD2746C5F9A0}"/>
                    </a:ext>
                  </a:extLst>
                </p:cNvPr>
                <p:cNvSpPr txBox="1"/>
                <p:nvPr/>
              </p:nvSpPr>
              <p:spPr>
                <a:xfrm>
                  <a:off x="4872825" y="4837891"/>
                  <a:ext cx="1920240" cy="6001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LineNotificationSender.py</a:t>
                  </a:r>
                </a:p>
                <a:p>
                  <a:pPr algn="ctr"/>
                  <a:r>
                    <a:rPr lang="en-US" sz="1050" dirty="0"/>
                    <a:t>Select new and filtered data and send  using </a:t>
                  </a:r>
                  <a:r>
                    <a:rPr lang="en-US" sz="1050" b="1" dirty="0"/>
                    <a:t>Line API </a:t>
                  </a:r>
                  <a:endParaRPr lang="en-ID" sz="1050" b="1" dirty="0">
                    <a:latin typeface="Bahnschrift" panose="020B0502040204020203" pitchFamily="34" charset="0"/>
                  </a:endParaRPr>
                </a:p>
              </p:txBody>
            </p:sp>
          </p:grpSp>
        </p:grpSp>
        <p:cxnSp>
          <p:nvCxnSpPr>
            <p:cNvPr id="1128" name="Straight Arrow Connector 1127">
              <a:extLst>
                <a:ext uri="{FF2B5EF4-FFF2-40B4-BE49-F238E27FC236}">
                  <a16:creationId xmlns:a16="http://schemas.microsoft.com/office/drawing/2014/main" id="{FA389291-E329-EE00-512B-483F2CB03C6F}"/>
                </a:ext>
              </a:extLst>
            </p:cNvPr>
            <p:cNvCxnSpPr>
              <a:stCxn id="1041" idx="3"/>
              <a:endCxn id="29" idx="1"/>
            </p:cNvCxnSpPr>
            <p:nvPr/>
          </p:nvCxnSpPr>
          <p:spPr>
            <a:xfrm flipV="1">
              <a:off x="6797700" y="4723131"/>
              <a:ext cx="1555534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7D3A1F0F-DEAF-A2D5-DE03-C5E1CD1D5779}"/>
                </a:ext>
              </a:extLst>
            </p:cNvPr>
            <p:cNvSpPr txBox="1"/>
            <p:nvPr/>
          </p:nvSpPr>
          <p:spPr>
            <a:xfrm>
              <a:off x="8317028" y="3472364"/>
              <a:ext cx="2286000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property_detil</a:t>
              </a:r>
              <a:endParaRPr lang="en-ID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130" name="Straight Arrow Connector 1129">
              <a:extLst>
                <a:ext uri="{FF2B5EF4-FFF2-40B4-BE49-F238E27FC236}">
                  <a16:creationId xmlns:a16="http://schemas.microsoft.com/office/drawing/2014/main" id="{D35E9EA7-A05F-5501-B42C-4861EF1E08DF}"/>
                </a:ext>
              </a:extLst>
            </p:cNvPr>
            <p:cNvCxnSpPr>
              <a:cxnSpLocks/>
              <a:stCxn id="1032" idx="3"/>
              <a:endCxn id="1129" idx="1"/>
            </p:cNvCxnSpPr>
            <p:nvPr/>
          </p:nvCxnSpPr>
          <p:spPr>
            <a:xfrm>
              <a:off x="6797700" y="3622483"/>
              <a:ext cx="1519328" cy="37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Connector: Elbow 1133">
              <a:extLst>
                <a:ext uri="{FF2B5EF4-FFF2-40B4-BE49-F238E27FC236}">
                  <a16:creationId xmlns:a16="http://schemas.microsoft.com/office/drawing/2014/main" id="{8CD2E6BF-44C0-8BBA-FBA3-D817B99B1670}"/>
                </a:ext>
              </a:extLst>
            </p:cNvPr>
            <p:cNvCxnSpPr>
              <a:stCxn id="1129" idx="2"/>
              <a:endCxn id="1041" idx="0"/>
            </p:cNvCxnSpPr>
            <p:nvPr/>
          </p:nvCxnSpPr>
          <p:spPr>
            <a:xfrm rot="5400000">
              <a:off x="7367746" y="2249975"/>
              <a:ext cx="562117" cy="3622448"/>
            </a:xfrm>
            <a:prstGeom prst="bentConnector3">
              <a:avLst>
                <a:gd name="adj1" fmla="val 62323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38EDF837-C11C-EA3D-695C-4E948CCF2177}"/>
                </a:ext>
              </a:extLst>
            </p:cNvPr>
            <p:cNvSpPr txBox="1"/>
            <p:nvPr/>
          </p:nvSpPr>
          <p:spPr>
            <a:xfrm>
              <a:off x="8308380" y="2445039"/>
              <a:ext cx="2286000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property_link</a:t>
              </a:r>
              <a:endParaRPr lang="en-ID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138" name="Straight Arrow Connector 1137">
              <a:extLst>
                <a:ext uri="{FF2B5EF4-FFF2-40B4-BE49-F238E27FC236}">
                  <a16:creationId xmlns:a16="http://schemas.microsoft.com/office/drawing/2014/main" id="{3995CDFF-E648-2247-7A14-39F90CD8290F}"/>
                </a:ext>
              </a:extLst>
            </p:cNvPr>
            <p:cNvCxnSpPr>
              <a:cxnSpLocks/>
              <a:stCxn id="40" idx="3"/>
              <a:endCxn id="1137" idx="1"/>
            </p:cNvCxnSpPr>
            <p:nvPr/>
          </p:nvCxnSpPr>
          <p:spPr>
            <a:xfrm flipV="1">
              <a:off x="6797700" y="2598928"/>
              <a:ext cx="1510680" cy="36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Connector: Elbow 1142">
              <a:extLst>
                <a:ext uri="{FF2B5EF4-FFF2-40B4-BE49-F238E27FC236}">
                  <a16:creationId xmlns:a16="http://schemas.microsoft.com/office/drawing/2014/main" id="{D6996BDC-9872-92B5-37F1-E732CABD3D14}"/>
                </a:ext>
              </a:extLst>
            </p:cNvPr>
            <p:cNvCxnSpPr>
              <a:cxnSpLocks/>
              <a:stCxn id="1129" idx="3"/>
              <a:endCxn id="1109" idx="3"/>
            </p:cNvCxnSpPr>
            <p:nvPr/>
          </p:nvCxnSpPr>
          <p:spPr>
            <a:xfrm flipH="1">
              <a:off x="6797700" y="3626253"/>
              <a:ext cx="3805328" cy="2116735"/>
            </a:xfrm>
            <a:prstGeom prst="bentConnector3">
              <a:avLst>
                <a:gd name="adj1" fmla="val -600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Arrow Connector 1148">
              <a:extLst>
                <a:ext uri="{FF2B5EF4-FFF2-40B4-BE49-F238E27FC236}">
                  <a16:creationId xmlns:a16="http://schemas.microsoft.com/office/drawing/2014/main" id="{6FA62499-AEFD-C959-185D-5F512EF7EA32}"/>
                </a:ext>
              </a:extLst>
            </p:cNvPr>
            <p:cNvCxnSpPr>
              <a:cxnSpLocks/>
              <a:stCxn id="1109" idx="1"/>
              <a:endCxn id="20" idx="3"/>
            </p:cNvCxnSpPr>
            <p:nvPr/>
          </p:nvCxnSpPr>
          <p:spPr>
            <a:xfrm flipH="1" flipV="1">
              <a:off x="3292898" y="5741616"/>
              <a:ext cx="1584562" cy="13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5" name="TextBox 1154">
            <a:extLst>
              <a:ext uri="{FF2B5EF4-FFF2-40B4-BE49-F238E27FC236}">
                <a16:creationId xmlns:a16="http://schemas.microsoft.com/office/drawing/2014/main" id="{63BF7A0B-8380-AA02-FD51-B1C5A6A98F06}"/>
              </a:ext>
            </a:extLst>
          </p:cNvPr>
          <p:cNvSpPr txBox="1"/>
          <p:nvPr/>
        </p:nvSpPr>
        <p:spPr>
          <a:xfrm>
            <a:off x="2547693" y="2813247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request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CE45EE8-A5D8-56C2-198E-0196D57BF883}"/>
              </a:ext>
            </a:extLst>
          </p:cNvPr>
          <p:cNvSpPr txBox="1"/>
          <p:nvPr/>
        </p:nvSpPr>
        <p:spPr>
          <a:xfrm>
            <a:off x="2547693" y="3089804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response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366E8D9F-203C-A375-7DC5-13205DB2D424}"/>
              </a:ext>
            </a:extLst>
          </p:cNvPr>
          <p:cNvSpPr txBox="1"/>
          <p:nvPr/>
        </p:nvSpPr>
        <p:spPr>
          <a:xfrm>
            <a:off x="6556646" y="2338581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check availability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74ED4F24-855A-7EE4-9CF4-6BA1E13BDCF3}"/>
              </a:ext>
            </a:extLst>
          </p:cNvPr>
          <p:cNvSpPr txBox="1"/>
          <p:nvPr/>
        </p:nvSpPr>
        <p:spPr>
          <a:xfrm>
            <a:off x="6556646" y="2587999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Insert new link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1B37FB7C-CB1A-A3EF-E383-6D26EFC43B3F}"/>
              </a:ext>
            </a:extLst>
          </p:cNvPr>
          <p:cNvSpPr txBox="1"/>
          <p:nvPr/>
        </p:nvSpPr>
        <p:spPr>
          <a:xfrm>
            <a:off x="6538543" y="3360451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Insert data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CD329F69-5EEE-246B-812A-15A9F5181150}"/>
              </a:ext>
            </a:extLst>
          </p:cNvPr>
          <p:cNvSpPr txBox="1"/>
          <p:nvPr/>
        </p:nvSpPr>
        <p:spPr>
          <a:xfrm>
            <a:off x="6556645" y="3866228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</a:t>
            </a:r>
            <a:r>
              <a:rPr lang="en-ID" sz="1100" dirty="0"/>
              <a:t>et address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5C426D64-DB2C-2146-3D4E-4D21B94ECFFC}"/>
              </a:ext>
            </a:extLst>
          </p:cNvPr>
          <p:cNvSpPr txBox="1"/>
          <p:nvPr/>
        </p:nvSpPr>
        <p:spPr>
          <a:xfrm>
            <a:off x="6410821" y="4446906"/>
            <a:ext cx="1622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Insert standard </a:t>
            </a:r>
            <a:r>
              <a:rPr lang="en-ID" sz="1100" dirty="0"/>
              <a:t>address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A9115837-AA2E-735F-01A2-8D7CBA533D4D}"/>
              </a:ext>
            </a:extLst>
          </p:cNvPr>
          <p:cNvSpPr txBox="1"/>
          <p:nvPr/>
        </p:nvSpPr>
        <p:spPr>
          <a:xfrm>
            <a:off x="6353644" y="5454549"/>
            <a:ext cx="2060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Select new and filtered data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134073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B6605E-37F8-81C9-A76A-8E3113A1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4" y="647261"/>
            <a:ext cx="5668286" cy="2435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C1098B-7F28-8F91-34CB-47BF5CEDFFD1}"/>
              </a:ext>
            </a:extLst>
          </p:cNvPr>
          <p:cNvSpPr txBox="1"/>
          <p:nvPr/>
        </p:nvSpPr>
        <p:spPr>
          <a:xfrm>
            <a:off x="1455111" y="180109"/>
            <a:ext cx="873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Bahnschrift" panose="020B0502040204020203" pitchFamily="34" charset="0"/>
                <a:cs typeface="Arial" panose="020B0604020202020204" pitchFamily="34" charset="0"/>
              </a:rPr>
              <a:t>End-to-End Property Data Solutions: From Acquisition to Visualization and Insights</a:t>
            </a:r>
            <a:endParaRPr lang="en-ID" b="1" u="sng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FF080-E8AD-D945-CCD8-D6A11C0D6524}"/>
              </a:ext>
            </a:extLst>
          </p:cNvPr>
          <p:cNvSpPr txBox="1"/>
          <p:nvPr/>
        </p:nvSpPr>
        <p:spPr>
          <a:xfrm flipH="1">
            <a:off x="5832746" y="863190"/>
            <a:ext cx="6246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cs typeface="Arial" panose="020B0604020202020204" pitchFamily="34" charset="0"/>
              </a:rPr>
              <a:t>Over the past </a:t>
            </a:r>
            <a:r>
              <a:rPr lang="en-US" sz="1200" b="1" dirty="0">
                <a:solidFill>
                  <a:srgbClr val="0070C0"/>
                </a:solidFill>
                <a:cs typeface="Arial" panose="020B0604020202020204" pitchFamily="34" charset="0"/>
              </a:rPr>
              <a:t>five years</a:t>
            </a:r>
            <a:r>
              <a:rPr lang="en-US" sz="1200" dirty="0">
                <a:cs typeface="Arial" panose="020B0604020202020204" pitchFamily="34" charset="0"/>
              </a:rPr>
              <a:t>, we have observed a </a:t>
            </a:r>
            <a:r>
              <a:rPr lang="en-US" sz="1200" b="1" dirty="0">
                <a:solidFill>
                  <a:srgbClr val="FF0000"/>
                </a:solidFill>
                <a:cs typeface="Arial" panose="020B0604020202020204" pitchFamily="34" charset="0"/>
              </a:rPr>
              <a:t>significant</a:t>
            </a:r>
            <a:r>
              <a:rPr lang="en-US" sz="1200" dirty="0"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cs typeface="Arial" panose="020B0604020202020204" pitchFamily="34" charset="0"/>
              </a:rPr>
              <a:t>decline</a:t>
            </a:r>
            <a:r>
              <a:rPr lang="en-US" sz="1200" dirty="0">
                <a:cs typeface="Arial" panose="020B0604020202020204" pitchFamily="34" charset="0"/>
              </a:rPr>
              <a:t> in residential property prices in Indonesia. Specifically, the median residential price, which was IDR 1.370 million five years ago, has decreased to IDR 830 million in 2024. This represents a </a:t>
            </a:r>
            <a:r>
              <a:rPr lang="en-US" sz="1200" b="1" dirty="0">
                <a:solidFill>
                  <a:srgbClr val="FF0000"/>
                </a:solidFill>
                <a:cs typeface="Arial" panose="020B0604020202020204" pitchFamily="34" charset="0"/>
              </a:rPr>
              <a:t>decrease of approximately 39.42%.</a:t>
            </a:r>
          </a:p>
          <a:p>
            <a:pPr algn="just"/>
            <a:endParaRPr lang="en-US" sz="12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cs typeface="Arial" panose="020B0604020202020204" pitchFamily="34" charset="0"/>
              </a:rPr>
              <a:t>With prices significantly lower, this may be an opportune time to purchase residential property, potentially securing a good deal before prices stabilize or increase</a:t>
            </a:r>
            <a:endParaRPr lang="en-ID" sz="1200" dirty="0"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41A69-1E68-BD1E-D269-45C4C1FD771F}"/>
              </a:ext>
            </a:extLst>
          </p:cNvPr>
          <p:cNvSpPr txBox="1"/>
          <p:nvPr/>
        </p:nvSpPr>
        <p:spPr>
          <a:xfrm>
            <a:off x="5822653" y="555413"/>
            <a:ext cx="4279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0070C0"/>
                </a:solidFill>
                <a:cs typeface="Arial" panose="020B0604020202020204" pitchFamily="34" charset="0"/>
              </a:rPr>
              <a:t>Summary of Residential Price</a:t>
            </a:r>
            <a:endParaRPr lang="en-ID" sz="1400" b="1" u="sng" dirty="0">
              <a:solidFill>
                <a:srgbClr val="0070C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B42BAD-4490-ADC6-6DE6-29E0F4DD3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827" y="2152664"/>
            <a:ext cx="5668285" cy="284618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57F190-7714-7FED-7E31-6EB56A7F6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38478"/>
              </p:ext>
            </p:extLst>
          </p:nvPr>
        </p:nvGraphicFramePr>
        <p:xfrm>
          <a:off x="165099" y="3373580"/>
          <a:ext cx="5858788" cy="1583705"/>
        </p:xfrm>
        <a:graphic>
          <a:graphicData uri="http://schemas.openxmlformats.org/drawingml/2006/table">
            <a:tbl>
              <a:tblPr/>
              <a:tblGrid>
                <a:gridCol w="889634">
                  <a:extLst>
                    <a:ext uri="{9D8B030D-6E8A-4147-A177-3AD203B41FA5}">
                      <a16:colId xmlns:a16="http://schemas.microsoft.com/office/drawing/2014/main" val="3757506779"/>
                    </a:ext>
                  </a:extLst>
                </a:gridCol>
                <a:gridCol w="1121182">
                  <a:extLst>
                    <a:ext uri="{9D8B030D-6E8A-4147-A177-3AD203B41FA5}">
                      <a16:colId xmlns:a16="http://schemas.microsoft.com/office/drawing/2014/main" val="4234399326"/>
                    </a:ext>
                  </a:extLst>
                </a:gridCol>
                <a:gridCol w="584965">
                  <a:extLst>
                    <a:ext uri="{9D8B030D-6E8A-4147-A177-3AD203B41FA5}">
                      <a16:colId xmlns:a16="http://schemas.microsoft.com/office/drawing/2014/main" val="2113463708"/>
                    </a:ext>
                  </a:extLst>
                </a:gridCol>
                <a:gridCol w="1087669">
                  <a:extLst>
                    <a:ext uri="{9D8B030D-6E8A-4147-A177-3AD203B41FA5}">
                      <a16:colId xmlns:a16="http://schemas.microsoft.com/office/drawing/2014/main" val="2778231199"/>
                    </a:ext>
                  </a:extLst>
                </a:gridCol>
                <a:gridCol w="1087669">
                  <a:extLst>
                    <a:ext uri="{9D8B030D-6E8A-4147-A177-3AD203B41FA5}">
                      <a16:colId xmlns:a16="http://schemas.microsoft.com/office/drawing/2014/main" val="2857014674"/>
                    </a:ext>
                  </a:extLst>
                </a:gridCol>
                <a:gridCol w="1087669">
                  <a:extLst>
                    <a:ext uri="{9D8B030D-6E8A-4147-A177-3AD203B41FA5}">
                      <a16:colId xmlns:a16="http://schemas.microsoft.com/office/drawing/2014/main" val="3319472211"/>
                    </a:ext>
                  </a:extLst>
                </a:gridCol>
              </a:tblGrid>
              <a:tr h="183087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Rank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Q1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Q2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Q3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96454"/>
                  </a:ext>
                </a:extLst>
              </a:tr>
              <a:tr h="183087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DKI Jakarta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2,026,530,485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1,250,000,000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1,750,000,000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2,550,000,128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165628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Bali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1,308,709,675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775,000,000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1,225,000,000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1,470,000,000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1915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Jawa Barat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966,376,064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571,000,000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880,000,000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890,000,000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74569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Jawa Timur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962,122,434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600,000,000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935,000,000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980,000,000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499840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 Yogyakarta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959,525,414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325,000,000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400,000,000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773,000,000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014161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Banten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766,546,297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700,000,000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750,000,000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750,000,000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484927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Jawa Tengah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569,098,641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340,000,096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463,800,000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592,000,128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44114"/>
                  </a:ext>
                </a:extLst>
              </a:tr>
              <a:tr h="173933"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 943,003,228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630,000,000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750,000,000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880,000,000 </a:t>
                      </a:r>
                    </a:p>
                  </a:txBody>
                  <a:tcPr marL="9154" marR="9154" marT="91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537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7169605-11D2-29AB-45D1-91F676B3D5CE}"/>
              </a:ext>
            </a:extLst>
          </p:cNvPr>
          <p:cNvSpPr txBox="1"/>
          <p:nvPr/>
        </p:nvSpPr>
        <p:spPr>
          <a:xfrm flipH="1">
            <a:off x="112804" y="5163813"/>
            <a:ext cx="5858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FF0000"/>
                </a:solidFill>
              </a:rPr>
              <a:t>DKI Jakarta has the highest </a:t>
            </a:r>
            <a:r>
              <a:rPr lang="en-US" sz="1200" dirty="0"/>
              <a:t>residential property prices among the provinces in Java. The high mean price and quartile values </a:t>
            </a:r>
            <a:r>
              <a:rPr lang="en-US" sz="1200" b="1" dirty="0">
                <a:solidFill>
                  <a:srgbClr val="0070C0"/>
                </a:solidFill>
              </a:rPr>
              <a:t>indicate a significant demand and higher cost of living in the capital city</a:t>
            </a:r>
            <a:r>
              <a:rPr lang="en-US" sz="1200" dirty="0"/>
              <a:t>. Bali ranks second with relatively high property prices, reflecting its status as a </a:t>
            </a:r>
            <a:r>
              <a:rPr lang="en-US" sz="1200" b="1" dirty="0">
                <a:solidFill>
                  <a:srgbClr val="FF0000"/>
                </a:solidFill>
              </a:rPr>
              <a:t>popular tourist destination </a:t>
            </a:r>
            <a:r>
              <a:rPr lang="en-US" sz="1200" dirty="0"/>
              <a:t>and desirable place to live.</a:t>
            </a:r>
          </a:p>
          <a:p>
            <a:pPr algn="just"/>
            <a:endParaRPr lang="en-US" sz="12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cs typeface="Arial" panose="020B0604020202020204" pitchFamily="34" charset="0"/>
              </a:rPr>
              <a:t>Jawa</a:t>
            </a:r>
            <a:r>
              <a:rPr lang="en-US" sz="1200" dirty="0">
                <a:cs typeface="Arial" panose="020B0604020202020204" pitchFamily="34" charset="0"/>
              </a:rPr>
              <a:t> Barat, </a:t>
            </a:r>
            <a:r>
              <a:rPr lang="en-US" sz="1200" dirty="0" err="1">
                <a:cs typeface="Arial" panose="020B0604020202020204" pitchFamily="34" charset="0"/>
              </a:rPr>
              <a:t>Jawa</a:t>
            </a:r>
            <a:r>
              <a:rPr lang="en-US" sz="1200" dirty="0">
                <a:cs typeface="Arial" panose="020B0604020202020204" pitchFamily="34" charset="0"/>
              </a:rPr>
              <a:t> Timur, and DI Yogyakarta </a:t>
            </a:r>
            <a:r>
              <a:rPr lang="en-US" sz="1200" dirty="0"/>
              <a:t>have moderate residential prices, with </a:t>
            </a:r>
            <a:r>
              <a:rPr lang="en-US" sz="1200" b="1" dirty="0" err="1">
                <a:solidFill>
                  <a:srgbClr val="0070C0"/>
                </a:solidFill>
              </a:rPr>
              <a:t>Jawa</a:t>
            </a:r>
            <a:r>
              <a:rPr lang="en-US" sz="1200" b="1" dirty="0">
                <a:solidFill>
                  <a:srgbClr val="0070C0"/>
                </a:solidFill>
              </a:rPr>
              <a:t> Barat and </a:t>
            </a:r>
            <a:r>
              <a:rPr lang="en-US" sz="1200" b="1" dirty="0" err="1">
                <a:solidFill>
                  <a:srgbClr val="0070C0"/>
                </a:solidFill>
              </a:rPr>
              <a:t>Jawa</a:t>
            </a:r>
            <a:r>
              <a:rPr lang="en-US" sz="1200" b="1" dirty="0">
                <a:solidFill>
                  <a:srgbClr val="0070C0"/>
                </a:solidFill>
              </a:rPr>
              <a:t> Timur having similar price ranges</a:t>
            </a:r>
            <a:r>
              <a:rPr lang="en-US" sz="1200" dirty="0"/>
              <a:t>, while DI Yogyakarta has lower quartile values, indicating more </a:t>
            </a:r>
            <a:r>
              <a:rPr lang="en-US" sz="1200" b="1" dirty="0">
                <a:solidFill>
                  <a:srgbClr val="FF0000"/>
                </a:solidFill>
              </a:rPr>
              <a:t>affordable</a:t>
            </a:r>
            <a:r>
              <a:rPr lang="en-US" sz="1200" dirty="0"/>
              <a:t> options within the province.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56067-9109-F3B3-D36A-A7C97BC34088}"/>
              </a:ext>
            </a:extLst>
          </p:cNvPr>
          <p:cNvSpPr txBox="1"/>
          <p:nvPr/>
        </p:nvSpPr>
        <p:spPr>
          <a:xfrm>
            <a:off x="954543" y="3107543"/>
            <a:ext cx="4279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Residential Price In Java</a:t>
            </a:r>
            <a:endParaRPr lang="en-ID" sz="1400" b="1" u="sng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48315-ACB3-5294-7268-0E4E6581D733}"/>
              </a:ext>
            </a:extLst>
          </p:cNvPr>
          <p:cNvSpPr txBox="1"/>
          <p:nvPr/>
        </p:nvSpPr>
        <p:spPr>
          <a:xfrm flipH="1">
            <a:off x="6121827" y="5163813"/>
            <a:ext cx="58587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0070C0"/>
                </a:solidFill>
              </a:rPr>
              <a:t>Banten and </a:t>
            </a:r>
            <a:r>
              <a:rPr lang="en-US" sz="1200" b="1" dirty="0" err="1">
                <a:solidFill>
                  <a:srgbClr val="0070C0"/>
                </a:solidFill>
              </a:rPr>
              <a:t>Jawa</a:t>
            </a:r>
            <a:r>
              <a:rPr lang="en-US" sz="1200" b="1" dirty="0">
                <a:solidFill>
                  <a:srgbClr val="0070C0"/>
                </a:solidFill>
              </a:rPr>
              <a:t> Tengah offer the most affordable </a:t>
            </a:r>
            <a:r>
              <a:rPr lang="en-US" sz="1200" dirty="0"/>
              <a:t>residential properties among the provinces in Java, with </a:t>
            </a:r>
            <a:r>
              <a:rPr lang="en-US" sz="1200" dirty="0" err="1"/>
              <a:t>Jawa</a:t>
            </a:r>
            <a:r>
              <a:rPr lang="en-US" sz="1200" dirty="0"/>
              <a:t> Tengah having the lowest mean and quartile values, making it a </a:t>
            </a:r>
            <a:r>
              <a:rPr lang="en-US" sz="1200" b="1" dirty="0">
                <a:solidFill>
                  <a:srgbClr val="FF0000"/>
                </a:solidFill>
              </a:rPr>
              <a:t>potential market for cost-sensitive buyers.</a:t>
            </a:r>
          </a:p>
          <a:p>
            <a:pPr algn="just"/>
            <a:endParaRPr lang="en-US" sz="12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en-US" sz="1200" dirty="0"/>
              <a:t>The overall mean residential price across all listed provinces is approximately Rp943 million. Provinces like </a:t>
            </a:r>
            <a:r>
              <a:rPr lang="en-US" sz="1200" b="1" dirty="0">
                <a:solidFill>
                  <a:srgbClr val="FF0000"/>
                </a:solidFill>
              </a:rPr>
              <a:t>DKI Jakarta and Bali exceed this average</a:t>
            </a:r>
            <a:r>
              <a:rPr lang="en-US" sz="1200" dirty="0"/>
              <a:t>, while </a:t>
            </a:r>
            <a:r>
              <a:rPr lang="en-US" sz="1200" dirty="0">
                <a:solidFill>
                  <a:srgbClr val="0070C0"/>
                </a:solidFill>
              </a:rPr>
              <a:t>Banten and </a:t>
            </a:r>
            <a:r>
              <a:rPr lang="en-US" sz="1200" dirty="0" err="1">
                <a:solidFill>
                  <a:srgbClr val="0070C0"/>
                </a:solidFill>
              </a:rPr>
              <a:t>Jawa</a:t>
            </a:r>
            <a:r>
              <a:rPr lang="en-US" sz="1200" dirty="0">
                <a:solidFill>
                  <a:srgbClr val="0070C0"/>
                </a:solidFill>
              </a:rPr>
              <a:t> Tengah fall below it.</a:t>
            </a:r>
            <a:endParaRPr lang="en-US" sz="1200" b="1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1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CCC542D-8738-BFC4-288C-516D0A3EA84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D068DC2-EE9C-2EEC-9669-F2D84989A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932" b="15625"/>
            <a:stretch/>
          </p:blipFill>
          <p:spPr>
            <a:xfrm>
              <a:off x="2064327" y="0"/>
              <a:ext cx="10127673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A39E2A-8402-C413-48BA-67A26D008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83069" b="15625"/>
            <a:stretch/>
          </p:blipFill>
          <p:spPr>
            <a:xfrm>
              <a:off x="0" y="0"/>
              <a:ext cx="2064327" cy="6858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847759-4720-1362-CB01-893058C6B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7" y="152214"/>
            <a:ext cx="4867503" cy="3007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641DC-4730-8B04-1988-36276B0BD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7" y="3429000"/>
            <a:ext cx="4867503" cy="2689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F1B75-F3A1-9CF6-F52F-E5C524977EB9}"/>
              </a:ext>
            </a:extLst>
          </p:cNvPr>
          <p:cNvSpPr txBox="1"/>
          <p:nvPr/>
        </p:nvSpPr>
        <p:spPr>
          <a:xfrm>
            <a:off x="5777346" y="623454"/>
            <a:ext cx="5569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End-to-End Property Data Solutions: From Acquisition to Visualization and Insights</a:t>
            </a:r>
            <a:endParaRPr lang="en-ID" sz="2400" b="1" u="sng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73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525</Words>
  <Application>Microsoft Office PowerPoint</Application>
  <PresentationFormat>Widescreen</PresentationFormat>
  <Paragraphs>92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Akhmad Adham Nur Husaen</dc:creator>
  <cp:lastModifiedBy>Ahmad Farhan</cp:lastModifiedBy>
  <cp:revision>3</cp:revision>
  <dcterms:created xsi:type="dcterms:W3CDTF">2024-07-21T08:30:03Z</dcterms:created>
  <dcterms:modified xsi:type="dcterms:W3CDTF">2025-05-08T09:14:44Z</dcterms:modified>
</cp:coreProperties>
</file>