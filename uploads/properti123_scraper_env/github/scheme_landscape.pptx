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</p:sldIdLst>
  <p:sldSz cx="12192000" cy="4206875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F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3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1" y="688486"/>
            <a:ext cx="9144000" cy="1464616"/>
          </a:xfrm>
        </p:spPr>
        <p:txBody>
          <a:bodyPr anchor="b"/>
          <a:lstStyle>
            <a:lvl1pPr algn="ctr"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1" y="2209586"/>
            <a:ext cx="9144000" cy="1015687"/>
          </a:xfrm>
        </p:spPr>
        <p:txBody>
          <a:bodyPr/>
          <a:lstStyle>
            <a:lvl1pPr marL="0" indent="0" algn="ctr">
              <a:buNone/>
              <a:defRPr sz="1472"/>
            </a:lvl1pPr>
            <a:lvl2pPr marL="280446" indent="0" algn="ctr">
              <a:buNone/>
              <a:defRPr sz="1227"/>
            </a:lvl2pPr>
            <a:lvl3pPr marL="560893" indent="0" algn="ctr">
              <a:buNone/>
              <a:defRPr sz="1104"/>
            </a:lvl3pPr>
            <a:lvl4pPr marL="841339" indent="0" algn="ctr">
              <a:buNone/>
              <a:defRPr sz="981"/>
            </a:lvl4pPr>
            <a:lvl5pPr marL="1121786" indent="0" algn="ctr">
              <a:buNone/>
              <a:defRPr sz="981"/>
            </a:lvl5pPr>
            <a:lvl6pPr marL="1402232" indent="0" algn="ctr">
              <a:buNone/>
              <a:defRPr sz="981"/>
            </a:lvl6pPr>
            <a:lvl7pPr marL="1682679" indent="0" algn="ctr">
              <a:buNone/>
              <a:defRPr sz="981"/>
            </a:lvl7pPr>
            <a:lvl8pPr marL="1963125" indent="0" algn="ctr">
              <a:buNone/>
              <a:defRPr sz="981"/>
            </a:lvl8pPr>
            <a:lvl9pPr marL="2243572" indent="0" algn="ctr">
              <a:buNone/>
              <a:defRPr sz="981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78351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783776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49" y="1048800"/>
            <a:ext cx="10515600" cy="1749943"/>
          </a:xfrm>
        </p:spPr>
        <p:txBody>
          <a:bodyPr anchor="b"/>
          <a:lstStyle>
            <a:lvl1pPr>
              <a:defRPr sz="3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9" y="2815296"/>
            <a:ext cx="10515600" cy="920254"/>
          </a:xfrm>
        </p:spPr>
        <p:txBody>
          <a:bodyPr/>
          <a:lstStyle>
            <a:lvl1pPr marL="0" indent="0">
              <a:buNone/>
              <a:defRPr sz="1472">
                <a:solidFill>
                  <a:schemeClr val="tx1">
                    <a:tint val="75000"/>
                  </a:schemeClr>
                </a:solidFill>
              </a:defRPr>
            </a:lvl1pPr>
            <a:lvl2pPr marL="280446" indent="0">
              <a:buNone/>
              <a:defRPr sz="1227">
                <a:solidFill>
                  <a:schemeClr val="tx1">
                    <a:tint val="75000"/>
                  </a:schemeClr>
                </a:solidFill>
              </a:defRPr>
            </a:lvl2pPr>
            <a:lvl3pPr marL="560893" indent="0">
              <a:buNone/>
              <a:defRPr sz="1104">
                <a:solidFill>
                  <a:schemeClr val="tx1">
                    <a:tint val="75000"/>
                  </a:schemeClr>
                </a:solidFill>
              </a:defRPr>
            </a:lvl3pPr>
            <a:lvl4pPr marL="841339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4pPr>
            <a:lvl5pPr marL="1121786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5pPr>
            <a:lvl6pPr marL="1402232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6pPr>
            <a:lvl7pPr marL="1682679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7pPr>
            <a:lvl8pPr marL="1963125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8pPr>
            <a:lvl9pPr marL="2243572" indent="0">
              <a:buNone/>
              <a:defRPr sz="9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9917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2" y="1119885"/>
            <a:ext cx="5181600" cy="266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119885"/>
            <a:ext cx="5181600" cy="26692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604539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23979"/>
            <a:ext cx="10515600" cy="8131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031271"/>
            <a:ext cx="5157787" cy="505409"/>
          </a:xfrm>
        </p:spPr>
        <p:txBody>
          <a:bodyPr anchor="b"/>
          <a:lstStyle>
            <a:lvl1pPr marL="0" indent="0">
              <a:buNone/>
              <a:defRPr sz="1472" b="1"/>
            </a:lvl1pPr>
            <a:lvl2pPr marL="280446" indent="0">
              <a:buNone/>
              <a:defRPr sz="1227" b="1"/>
            </a:lvl2pPr>
            <a:lvl3pPr marL="560893" indent="0">
              <a:buNone/>
              <a:defRPr sz="1104" b="1"/>
            </a:lvl3pPr>
            <a:lvl4pPr marL="841339" indent="0">
              <a:buNone/>
              <a:defRPr sz="981" b="1"/>
            </a:lvl4pPr>
            <a:lvl5pPr marL="1121786" indent="0">
              <a:buNone/>
              <a:defRPr sz="981" b="1"/>
            </a:lvl5pPr>
            <a:lvl6pPr marL="1402232" indent="0">
              <a:buNone/>
              <a:defRPr sz="981" b="1"/>
            </a:lvl6pPr>
            <a:lvl7pPr marL="1682679" indent="0">
              <a:buNone/>
              <a:defRPr sz="981" b="1"/>
            </a:lvl7pPr>
            <a:lvl8pPr marL="1963125" indent="0">
              <a:buNone/>
              <a:defRPr sz="981" b="1"/>
            </a:lvl8pPr>
            <a:lvl9pPr marL="2243572" indent="0">
              <a:buNone/>
              <a:defRPr sz="9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536678"/>
            <a:ext cx="5157787" cy="2260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031271"/>
            <a:ext cx="5183188" cy="505409"/>
          </a:xfrm>
        </p:spPr>
        <p:txBody>
          <a:bodyPr anchor="b"/>
          <a:lstStyle>
            <a:lvl1pPr marL="0" indent="0">
              <a:buNone/>
              <a:defRPr sz="1472" b="1"/>
            </a:lvl1pPr>
            <a:lvl2pPr marL="280446" indent="0">
              <a:buNone/>
              <a:defRPr sz="1227" b="1"/>
            </a:lvl2pPr>
            <a:lvl3pPr marL="560893" indent="0">
              <a:buNone/>
              <a:defRPr sz="1104" b="1"/>
            </a:lvl3pPr>
            <a:lvl4pPr marL="841339" indent="0">
              <a:buNone/>
              <a:defRPr sz="981" b="1"/>
            </a:lvl4pPr>
            <a:lvl5pPr marL="1121786" indent="0">
              <a:buNone/>
              <a:defRPr sz="981" b="1"/>
            </a:lvl5pPr>
            <a:lvl6pPr marL="1402232" indent="0">
              <a:buNone/>
              <a:defRPr sz="981" b="1"/>
            </a:lvl6pPr>
            <a:lvl7pPr marL="1682679" indent="0">
              <a:buNone/>
              <a:defRPr sz="981" b="1"/>
            </a:lvl7pPr>
            <a:lvl8pPr marL="1963125" indent="0">
              <a:buNone/>
              <a:defRPr sz="981" b="1"/>
            </a:lvl8pPr>
            <a:lvl9pPr marL="2243572" indent="0">
              <a:buNone/>
              <a:defRPr sz="981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1536678"/>
            <a:ext cx="5183188" cy="22602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692127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1059296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08544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280458"/>
            <a:ext cx="3932236" cy="981604"/>
          </a:xfrm>
        </p:spPr>
        <p:txBody>
          <a:bodyPr anchor="b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05712"/>
            <a:ext cx="6172199" cy="2989608"/>
          </a:xfrm>
        </p:spPr>
        <p:txBody>
          <a:bodyPr/>
          <a:lstStyle>
            <a:lvl1pPr>
              <a:defRPr sz="1963"/>
            </a:lvl1pPr>
            <a:lvl2pPr>
              <a:defRPr sz="1718"/>
            </a:lvl2pPr>
            <a:lvl3pPr>
              <a:defRPr sz="1472"/>
            </a:lvl3pPr>
            <a:lvl4pPr>
              <a:defRPr sz="1227"/>
            </a:lvl4pPr>
            <a:lvl5pPr>
              <a:defRPr sz="1227"/>
            </a:lvl5pPr>
            <a:lvl6pPr>
              <a:defRPr sz="1227"/>
            </a:lvl6pPr>
            <a:lvl7pPr>
              <a:defRPr sz="1227"/>
            </a:lvl7pPr>
            <a:lvl8pPr>
              <a:defRPr sz="1227"/>
            </a:lvl8pPr>
            <a:lvl9pPr>
              <a:defRPr sz="122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1262064"/>
            <a:ext cx="3932236" cy="2338127"/>
          </a:xfrm>
        </p:spPr>
        <p:txBody>
          <a:bodyPr/>
          <a:lstStyle>
            <a:lvl1pPr marL="0" indent="0">
              <a:buNone/>
              <a:defRPr sz="981"/>
            </a:lvl1pPr>
            <a:lvl2pPr marL="280446" indent="0">
              <a:buNone/>
              <a:defRPr sz="859"/>
            </a:lvl2pPr>
            <a:lvl3pPr marL="560893" indent="0">
              <a:buNone/>
              <a:defRPr sz="736"/>
            </a:lvl3pPr>
            <a:lvl4pPr marL="841339" indent="0">
              <a:buNone/>
              <a:defRPr sz="613"/>
            </a:lvl4pPr>
            <a:lvl5pPr marL="1121786" indent="0">
              <a:buNone/>
              <a:defRPr sz="613"/>
            </a:lvl5pPr>
            <a:lvl6pPr marL="1402232" indent="0">
              <a:buNone/>
              <a:defRPr sz="613"/>
            </a:lvl6pPr>
            <a:lvl7pPr marL="1682679" indent="0">
              <a:buNone/>
              <a:defRPr sz="613"/>
            </a:lvl7pPr>
            <a:lvl8pPr marL="1963125" indent="0">
              <a:buNone/>
              <a:defRPr sz="613"/>
            </a:lvl8pPr>
            <a:lvl9pPr marL="2243572" indent="0">
              <a:buNone/>
              <a:defRPr sz="6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239829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91" y="280458"/>
            <a:ext cx="3932236" cy="981604"/>
          </a:xfrm>
        </p:spPr>
        <p:txBody>
          <a:bodyPr anchor="b"/>
          <a:lstStyle>
            <a:lvl1pPr>
              <a:defRPr sz="19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05712"/>
            <a:ext cx="6172199" cy="2989608"/>
          </a:xfrm>
        </p:spPr>
        <p:txBody>
          <a:bodyPr anchor="t"/>
          <a:lstStyle>
            <a:lvl1pPr marL="0" indent="0">
              <a:buNone/>
              <a:defRPr sz="1963"/>
            </a:lvl1pPr>
            <a:lvl2pPr marL="280446" indent="0">
              <a:buNone/>
              <a:defRPr sz="1718"/>
            </a:lvl2pPr>
            <a:lvl3pPr marL="560893" indent="0">
              <a:buNone/>
              <a:defRPr sz="1472"/>
            </a:lvl3pPr>
            <a:lvl4pPr marL="841339" indent="0">
              <a:buNone/>
              <a:defRPr sz="1227"/>
            </a:lvl4pPr>
            <a:lvl5pPr marL="1121786" indent="0">
              <a:buNone/>
              <a:defRPr sz="1227"/>
            </a:lvl5pPr>
            <a:lvl6pPr marL="1402232" indent="0">
              <a:buNone/>
              <a:defRPr sz="1227"/>
            </a:lvl6pPr>
            <a:lvl7pPr marL="1682679" indent="0">
              <a:buNone/>
              <a:defRPr sz="1227"/>
            </a:lvl7pPr>
            <a:lvl8pPr marL="1963125" indent="0">
              <a:buNone/>
              <a:defRPr sz="1227"/>
            </a:lvl8pPr>
            <a:lvl9pPr marL="2243572" indent="0">
              <a:buNone/>
              <a:defRPr sz="122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91" y="1262064"/>
            <a:ext cx="3932236" cy="2338127"/>
          </a:xfrm>
        </p:spPr>
        <p:txBody>
          <a:bodyPr/>
          <a:lstStyle>
            <a:lvl1pPr marL="0" indent="0">
              <a:buNone/>
              <a:defRPr sz="981"/>
            </a:lvl1pPr>
            <a:lvl2pPr marL="280446" indent="0">
              <a:buNone/>
              <a:defRPr sz="859"/>
            </a:lvl2pPr>
            <a:lvl3pPr marL="560893" indent="0">
              <a:buNone/>
              <a:defRPr sz="736"/>
            </a:lvl3pPr>
            <a:lvl4pPr marL="841339" indent="0">
              <a:buNone/>
              <a:defRPr sz="613"/>
            </a:lvl4pPr>
            <a:lvl5pPr marL="1121786" indent="0">
              <a:buNone/>
              <a:defRPr sz="613"/>
            </a:lvl5pPr>
            <a:lvl6pPr marL="1402232" indent="0">
              <a:buNone/>
              <a:defRPr sz="613"/>
            </a:lvl6pPr>
            <a:lvl7pPr marL="1682679" indent="0">
              <a:buNone/>
              <a:defRPr sz="613"/>
            </a:lvl7pPr>
            <a:lvl8pPr marL="1963125" indent="0">
              <a:buNone/>
              <a:defRPr sz="613"/>
            </a:lvl8pPr>
            <a:lvl9pPr marL="2243572" indent="0">
              <a:buNone/>
              <a:defRPr sz="61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87802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62300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223977"/>
            <a:ext cx="2628899" cy="35651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23977"/>
            <a:ext cx="7734301" cy="35651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57279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1" y="223979"/>
            <a:ext cx="10515600" cy="8131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1" y="1119885"/>
            <a:ext cx="10515600" cy="26692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1" y="3899152"/>
            <a:ext cx="2743199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DB1152-8902-43D4-9CCB-FADE75CBC822}" type="datetimeFigureOut">
              <a:rPr lang="en-ID" smtClean="0"/>
              <a:t>08/05/2025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3899152"/>
            <a:ext cx="4114801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3899152"/>
            <a:ext cx="2743199" cy="22397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89873B-D050-4519-9B4B-65CD9CCF15C1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208769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60893" rtl="0" eaLnBrk="1" latinLnBrk="0" hangingPunct="1">
        <a:lnSpc>
          <a:spcPct val="90000"/>
        </a:lnSpc>
        <a:spcBef>
          <a:spcPct val="0"/>
        </a:spcBef>
        <a:buNone/>
        <a:defRPr sz="26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0223" indent="-140223" algn="l" defTabSz="560893" rtl="0" eaLnBrk="1" latinLnBrk="0" hangingPunct="1">
        <a:lnSpc>
          <a:spcPct val="90000"/>
        </a:lnSpc>
        <a:spcBef>
          <a:spcPts val="613"/>
        </a:spcBef>
        <a:buFont typeface="Arial" panose="020B0604020202020204" pitchFamily="34" charset="0"/>
        <a:buChar char="•"/>
        <a:defRPr sz="1718" kern="1200">
          <a:solidFill>
            <a:schemeClr val="tx1"/>
          </a:solidFill>
          <a:latin typeface="+mn-lt"/>
          <a:ea typeface="+mn-ea"/>
          <a:cs typeface="+mn-cs"/>
        </a:defRPr>
      </a:lvl1pPr>
      <a:lvl2pPr marL="420670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472" kern="1200">
          <a:solidFill>
            <a:schemeClr val="tx1"/>
          </a:solidFill>
          <a:latin typeface="+mn-lt"/>
          <a:ea typeface="+mn-ea"/>
          <a:cs typeface="+mn-cs"/>
        </a:defRPr>
      </a:lvl2pPr>
      <a:lvl3pPr marL="701116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227" kern="1200">
          <a:solidFill>
            <a:schemeClr val="tx1"/>
          </a:solidFill>
          <a:latin typeface="+mn-lt"/>
          <a:ea typeface="+mn-ea"/>
          <a:cs typeface="+mn-cs"/>
        </a:defRPr>
      </a:lvl3pPr>
      <a:lvl4pPr marL="981563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4pPr>
      <a:lvl5pPr marL="1262009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5pPr>
      <a:lvl6pPr marL="1542456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6pPr>
      <a:lvl7pPr marL="1822902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7pPr>
      <a:lvl8pPr marL="2103349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8pPr>
      <a:lvl9pPr marL="2383795" indent="-140223" algn="l" defTabSz="560893" rtl="0" eaLnBrk="1" latinLnBrk="0" hangingPunct="1">
        <a:lnSpc>
          <a:spcPct val="90000"/>
        </a:lnSpc>
        <a:spcBef>
          <a:spcPts val="307"/>
        </a:spcBef>
        <a:buFont typeface="Arial" panose="020B0604020202020204" pitchFamily="34" charset="0"/>
        <a:buChar char="•"/>
        <a:defRPr sz="1104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1pPr>
      <a:lvl2pPr marL="280446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2pPr>
      <a:lvl3pPr marL="560893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3pPr>
      <a:lvl4pPr marL="841339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4pPr>
      <a:lvl5pPr marL="1121786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5pPr>
      <a:lvl6pPr marL="1402232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6pPr>
      <a:lvl7pPr marL="1682679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7pPr>
      <a:lvl8pPr marL="1963125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8pPr>
      <a:lvl9pPr marL="2243572" algn="l" defTabSz="560893" rtl="0" eaLnBrk="1" latinLnBrk="0" hangingPunct="1">
        <a:defRPr sz="1104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F70AB0-B6C4-635E-F8F1-C876CCA2AA1B}"/>
              </a:ext>
            </a:extLst>
          </p:cNvPr>
          <p:cNvSpPr txBox="1"/>
          <p:nvPr/>
        </p:nvSpPr>
        <p:spPr>
          <a:xfrm>
            <a:off x="3249159" y="110488"/>
            <a:ext cx="5592870" cy="269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4" b="1" u="sng" dirty="0"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sz="1104" b="1" u="sng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grpSp>
        <p:nvGrpSpPr>
          <p:cNvPr id="1154" name="Group 1153">
            <a:extLst>
              <a:ext uri="{FF2B5EF4-FFF2-40B4-BE49-F238E27FC236}">
                <a16:creationId xmlns:a16="http://schemas.microsoft.com/office/drawing/2014/main" id="{95C58C36-9A75-C767-AA08-FBBDEDC46003}"/>
              </a:ext>
            </a:extLst>
          </p:cNvPr>
          <p:cNvGrpSpPr/>
          <p:nvPr/>
        </p:nvGrpSpPr>
        <p:grpSpPr>
          <a:xfrm>
            <a:off x="2879576" y="467068"/>
            <a:ext cx="6097499" cy="3402864"/>
            <a:chOff x="1226692" y="761405"/>
            <a:chExt cx="9940072" cy="5547312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E16C7C-9C43-ADD6-83B6-418CE1ECA099}"/>
                </a:ext>
              </a:extLst>
            </p:cNvPr>
            <p:cNvSpPr/>
            <p:nvPr/>
          </p:nvSpPr>
          <p:spPr>
            <a:xfrm>
              <a:off x="4467616" y="1281995"/>
              <a:ext cx="6699148" cy="4994114"/>
            </a:xfrm>
            <a:custGeom>
              <a:avLst/>
              <a:gdLst>
                <a:gd name="connsiteX0" fmla="*/ 0 w 4109432"/>
                <a:gd name="connsiteY0" fmla="*/ 0 h 3063518"/>
                <a:gd name="connsiteX1" fmla="*/ 726000 w 4109432"/>
                <a:gd name="connsiteY1" fmla="*/ 0 h 3063518"/>
                <a:gd name="connsiteX2" fmla="*/ 1451999 w 4109432"/>
                <a:gd name="connsiteY2" fmla="*/ 0 h 3063518"/>
                <a:gd name="connsiteX3" fmla="*/ 2013622 w 4109432"/>
                <a:gd name="connsiteY3" fmla="*/ 0 h 3063518"/>
                <a:gd name="connsiteX4" fmla="*/ 2616338 w 4109432"/>
                <a:gd name="connsiteY4" fmla="*/ 0 h 3063518"/>
                <a:gd name="connsiteX5" fmla="*/ 3301244 w 4109432"/>
                <a:gd name="connsiteY5" fmla="*/ 0 h 3063518"/>
                <a:gd name="connsiteX6" fmla="*/ 4109432 w 4109432"/>
                <a:gd name="connsiteY6" fmla="*/ 0 h 3063518"/>
                <a:gd name="connsiteX7" fmla="*/ 4109432 w 4109432"/>
                <a:gd name="connsiteY7" fmla="*/ 551433 h 3063518"/>
                <a:gd name="connsiteX8" fmla="*/ 4109432 w 4109432"/>
                <a:gd name="connsiteY8" fmla="*/ 1072231 h 3063518"/>
                <a:gd name="connsiteX9" fmla="*/ 4109432 w 4109432"/>
                <a:gd name="connsiteY9" fmla="*/ 1623665 h 3063518"/>
                <a:gd name="connsiteX10" fmla="*/ 4109432 w 4109432"/>
                <a:gd name="connsiteY10" fmla="*/ 2267003 h 3063518"/>
                <a:gd name="connsiteX11" fmla="*/ 4109432 w 4109432"/>
                <a:gd name="connsiteY11" fmla="*/ 3063518 h 3063518"/>
                <a:gd name="connsiteX12" fmla="*/ 3424527 w 4109432"/>
                <a:gd name="connsiteY12" fmla="*/ 3063518 h 3063518"/>
                <a:gd name="connsiteX13" fmla="*/ 2698527 w 4109432"/>
                <a:gd name="connsiteY13" fmla="*/ 3063518 h 3063518"/>
                <a:gd name="connsiteX14" fmla="*/ 2013622 w 4109432"/>
                <a:gd name="connsiteY14" fmla="*/ 3063518 h 3063518"/>
                <a:gd name="connsiteX15" fmla="*/ 1369811 w 4109432"/>
                <a:gd name="connsiteY15" fmla="*/ 3063518 h 3063518"/>
                <a:gd name="connsiteX16" fmla="*/ 808188 w 4109432"/>
                <a:gd name="connsiteY16" fmla="*/ 3063518 h 3063518"/>
                <a:gd name="connsiteX17" fmla="*/ 0 w 4109432"/>
                <a:gd name="connsiteY17" fmla="*/ 3063518 h 3063518"/>
                <a:gd name="connsiteX18" fmla="*/ 0 w 4109432"/>
                <a:gd name="connsiteY18" fmla="*/ 2450814 h 3063518"/>
                <a:gd name="connsiteX19" fmla="*/ 0 w 4109432"/>
                <a:gd name="connsiteY19" fmla="*/ 1807476 h 3063518"/>
                <a:gd name="connsiteX20" fmla="*/ 0 w 4109432"/>
                <a:gd name="connsiteY20" fmla="*/ 1164137 h 3063518"/>
                <a:gd name="connsiteX21" fmla="*/ 0 w 4109432"/>
                <a:gd name="connsiteY21" fmla="*/ 0 h 30635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4109432" h="3063518" extrusionOk="0">
                  <a:moveTo>
                    <a:pt x="0" y="0"/>
                  </a:moveTo>
                  <a:cubicBezTo>
                    <a:pt x="240571" y="29869"/>
                    <a:pt x="421414" y="-19641"/>
                    <a:pt x="726000" y="0"/>
                  </a:cubicBezTo>
                  <a:cubicBezTo>
                    <a:pt x="1030586" y="19641"/>
                    <a:pt x="1214334" y="-13634"/>
                    <a:pt x="1451999" y="0"/>
                  </a:cubicBezTo>
                  <a:cubicBezTo>
                    <a:pt x="1689664" y="13634"/>
                    <a:pt x="1800275" y="-6944"/>
                    <a:pt x="2013622" y="0"/>
                  </a:cubicBezTo>
                  <a:cubicBezTo>
                    <a:pt x="2226969" y="6944"/>
                    <a:pt x="2316339" y="24849"/>
                    <a:pt x="2616338" y="0"/>
                  </a:cubicBezTo>
                  <a:cubicBezTo>
                    <a:pt x="2916337" y="-24849"/>
                    <a:pt x="3040955" y="-8789"/>
                    <a:pt x="3301244" y="0"/>
                  </a:cubicBezTo>
                  <a:cubicBezTo>
                    <a:pt x="3561533" y="8789"/>
                    <a:pt x="3709638" y="-17611"/>
                    <a:pt x="4109432" y="0"/>
                  </a:cubicBezTo>
                  <a:cubicBezTo>
                    <a:pt x="4136823" y="240889"/>
                    <a:pt x="4086503" y="387136"/>
                    <a:pt x="4109432" y="551433"/>
                  </a:cubicBezTo>
                  <a:cubicBezTo>
                    <a:pt x="4132361" y="715730"/>
                    <a:pt x="4134707" y="897335"/>
                    <a:pt x="4109432" y="1072231"/>
                  </a:cubicBezTo>
                  <a:cubicBezTo>
                    <a:pt x="4084157" y="1247127"/>
                    <a:pt x="4098597" y="1502642"/>
                    <a:pt x="4109432" y="1623665"/>
                  </a:cubicBezTo>
                  <a:cubicBezTo>
                    <a:pt x="4120267" y="1744688"/>
                    <a:pt x="4108240" y="1976779"/>
                    <a:pt x="4109432" y="2267003"/>
                  </a:cubicBezTo>
                  <a:cubicBezTo>
                    <a:pt x="4110624" y="2557227"/>
                    <a:pt x="4073214" y="2893388"/>
                    <a:pt x="4109432" y="3063518"/>
                  </a:cubicBezTo>
                  <a:cubicBezTo>
                    <a:pt x="3828274" y="3036511"/>
                    <a:pt x="3667241" y="3044151"/>
                    <a:pt x="3424527" y="3063518"/>
                  </a:cubicBezTo>
                  <a:cubicBezTo>
                    <a:pt x="3181813" y="3082885"/>
                    <a:pt x="3033789" y="3094914"/>
                    <a:pt x="2698527" y="3063518"/>
                  </a:cubicBezTo>
                  <a:cubicBezTo>
                    <a:pt x="2363265" y="3032122"/>
                    <a:pt x="2335070" y="3079328"/>
                    <a:pt x="2013622" y="3063518"/>
                  </a:cubicBezTo>
                  <a:cubicBezTo>
                    <a:pt x="1692175" y="3047708"/>
                    <a:pt x="1586960" y="3092947"/>
                    <a:pt x="1369811" y="3063518"/>
                  </a:cubicBezTo>
                  <a:cubicBezTo>
                    <a:pt x="1152662" y="3034089"/>
                    <a:pt x="1025139" y="3060756"/>
                    <a:pt x="808188" y="3063518"/>
                  </a:cubicBezTo>
                  <a:cubicBezTo>
                    <a:pt x="591237" y="3066280"/>
                    <a:pt x="270037" y="3087753"/>
                    <a:pt x="0" y="3063518"/>
                  </a:cubicBezTo>
                  <a:cubicBezTo>
                    <a:pt x="-28358" y="2844254"/>
                    <a:pt x="24811" y="2738352"/>
                    <a:pt x="0" y="2450814"/>
                  </a:cubicBezTo>
                  <a:cubicBezTo>
                    <a:pt x="-24811" y="2163276"/>
                    <a:pt x="5382" y="2101022"/>
                    <a:pt x="0" y="1807476"/>
                  </a:cubicBezTo>
                  <a:cubicBezTo>
                    <a:pt x="-5382" y="1513930"/>
                    <a:pt x="199" y="1370878"/>
                    <a:pt x="0" y="1164137"/>
                  </a:cubicBezTo>
                  <a:cubicBezTo>
                    <a:pt x="-199" y="957396"/>
                    <a:pt x="-22252" y="344841"/>
                    <a:pt x="0" y="0"/>
                  </a:cubicBezTo>
                  <a:close/>
                </a:path>
              </a:pathLst>
            </a:custGeom>
            <a:noFill/>
            <a:ln w="28575">
              <a:solidFill>
                <a:srgbClr val="FF0000"/>
              </a:solidFill>
              <a:prstDash val="dash"/>
              <a:extLst>
                <a:ext uri="{C807C97D-BFC1-408E-A445-0C87EB9F89A2}">
                  <ask:lineSketchStyleProps xmlns:ask="http://schemas.microsoft.com/office/drawing/2018/sketchyshapes" sd="439560296">
                    <a:prstGeom prst="rect">
                      <a:avLst/>
                    </a:prstGeom>
                    <ask:type>
                      <ask:lineSketchFreehand/>
                    </ask:type>
                  </ask:lineSketchStyleProps>
                </a:ext>
              </a:extLst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D" sz="1104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329D8D50-088E-2956-540C-9F6D07D51399}"/>
                </a:ext>
              </a:extLst>
            </p:cNvPr>
            <p:cNvGrpSpPr/>
            <p:nvPr/>
          </p:nvGrpSpPr>
          <p:grpSpPr>
            <a:xfrm>
              <a:off x="1226692" y="2618657"/>
              <a:ext cx="2314963" cy="1331619"/>
              <a:chOff x="848067" y="1729886"/>
              <a:chExt cx="2314963" cy="1331619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B20B7C2-3F32-B793-017D-D9343C5D76E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27719" y="1729886"/>
                <a:ext cx="914400" cy="914400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D4BEC0-BF81-4007-C840-2FB9722981E6}"/>
                  </a:ext>
                </a:extLst>
              </p:cNvPr>
              <p:cNvSpPr txBox="1"/>
              <p:nvPr/>
            </p:nvSpPr>
            <p:spPr>
              <a:xfrm>
                <a:off x="848067" y="2685546"/>
                <a:ext cx="2314963" cy="3759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ID" sz="858" dirty="0">
                    <a:latin typeface="Bahnschrift" panose="020B0502040204020203" pitchFamily="34" charset="0"/>
                  </a:rPr>
                  <a:t>https://properti123.com/</a:t>
                </a:r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F29C2206-3662-6887-FB20-D97EB4C90F69}"/>
                </a:ext>
              </a:extLst>
            </p:cNvPr>
            <p:cNvGrpSpPr/>
            <p:nvPr/>
          </p:nvGrpSpPr>
          <p:grpSpPr>
            <a:xfrm>
              <a:off x="6659165" y="761405"/>
              <a:ext cx="2800864" cy="462763"/>
              <a:chOff x="6683216" y="1166504"/>
              <a:chExt cx="2800864" cy="462763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FF834581-D154-4C26-B9D1-8F2CE7F65D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683216" y="1166504"/>
                <a:ext cx="415942" cy="415942"/>
              </a:xfrm>
              <a:prstGeom prst="rect">
                <a:avLst/>
              </a:prstGeom>
            </p:spPr>
          </p:pic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EE0AA1F-4BF1-F509-9B36-D2C84CF4F298}"/>
                  </a:ext>
                </a:extLst>
              </p:cNvPr>
              <p:cNvSpPr txBox="1"/>
              <p:nvPr/>
            </p:nvSpPr>
            <p:spPr>
              <a:xfrm>
                <a:off x="7169117" y="1189808"/>
                <a:ext cx="2314963" cy="43945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104" b="1" dirty="0">
                    <a:latin typeface="Bahnschrift" panose="020B0502040204020203" pitchFamily="34" charset="0"/>
                  </a:rPr>
                  <a:t>v</a:t>
                </a:r>
                <a:r>
                  <a:rPr lang="en-ID" sz="1104" b="1" dirty="0" err="1">
                    <a:latin typeface="Bahnschrift" panose="020B0502040204020203" pitchFamily="34" charset="0"/>
                  </a:rPr>
                  <a:t>ps</a:t>
                </a:r>
                <a:r>
                  <a:rPr lang="en-ID" sz="1104" b="1" dirty="0">
                    <a:latin typeface="Bahnschrift" panose="020B0502040204020203" pitchFamily="34" charset="0"/>
                  </a:rPr>
                  <a:t>: ubuntu server</a:t>
                </a:r>
              </a:p>
            </p:txBody>
          </p:sp>
        </p:grpSp>
        <p:grpSp>
          <p:nvGrpSpPr>
            <p:cNvPr id="1151" name="Group 1150">
              <a:extLst>
                <a:ext uri="{FF2B5EF4-FFF2-40B4-BE49-F238E27FC236}">
                  <a16:creationId xmlns:a16="http://schemas.microsoft.com/office/drawing/2014/main" id="{135C37F4-FD14-2A79-8BA4-32829B65822F}"/>
                </a:ext>
              </a:extLst>
            </p:cNvPr>
            <p:cNvGrpSpPr/>
            <p:nvPr/>
          </p:nvGrpSpPr>
          <p:grpSpPr>
            <a:xfrm>
              <a:off x="1372658" y="4723216"/>
              <a:ext cx="1920240" cy="1337891"/>
              <a:chOff x="848067" y="4837891"/>
              <a:chExt cx="2314963" cy="1612906"/>
            </a:xfrm>
          </p:grpSpPr>
          <p:pic>
            <p:nvPicPr>
              <p:cNvPr id="17" name="Picture 16">
                <a:extLst>
                  <a:ext uri="{FF2B5EF4-FFF2-40B4-BE49-F238E27FC236}">
                    <a16:creationId xmlns:a16="http://schemas.microsoft.com/office/drawing/2014/main" id="{91A1DE02-8539-825D-C50F-A50E1CD685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48348" y="4837891"/>
                <a:ext cx="914400" cy="914400"/>
              </a:xfrm>
              <a:prstGeom prst="rect">
                <a:avLst/>
              </a:prstGeom>
            </p:spPr>
          </p:pic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BAFA00F-E2E9-E6FA-6E55-77CD4BF7D204}"/>
                  </a:ext>
                </a:extLst>
              </p:cNvPr>
              <p:cNvSpPr txBox="1"/>
              <p:nvPr/>
            </p:nvSpPr>
            <p:spPr>
              <a:xfrm>
                <a:off x="848067" y="5768799"/>
                <a:ext cx="2314963" cy="6819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58" b="1" dirty="0">
                    <a:latin typeface="Bahnschrift" panose="020B0502040204020203" pitchFamily="34" charset="0"/>
                  </a:rPr>
                  <a:t>Line Bot: </a:t>
                </a:r>
              </a:p>
              <a:p>
                <a:pPr algn="ctr"/>
                <a:r>
                  <a:rPr lang="en-US" sz="736" dirty="0">
                    <a:latin typeface="Bahnschrift" panose="020B0502040204020203" pitchFamily="34" charset="0"/>
                  </a:rPr>
                  <a:t>Send Message to User</a:t>
                </a:r>
                <a:endParaRPr lang="en-ID" sz="736" dirty="0">
                  <a:latin typeface="Bahnschrift" panose="020B0502040204020203" pitchFamily="34" charset="0"/>
                </a:endParaRPr>
              </a:p>
            </p:txBody>
          </p:sp>
        </p:grpSp>
        <p:grpSp>
          <p:nvGrpSpPr>
            <p:cNvPr id="1142" name="Group 1141">
              <a:extLst>
                <a:ext uri="{FF2B5EF4-FFF2-40B4-BE49-F238E27FC236}">
                  <a16:creationId xmlns:a16="http://schemas.microsoft.com/office/drawing/2014/main" id="{FD1E94F5-18B4-70F3-45E2-056359A92582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8317028" y="1616447"/>
              <a:ext cx="2277352" cy="700193"/>
              <a:chOff x="8380950" y="1497701"/>
              <a:chExt cx="1808079" cy="659294"/>
            </a:xfrm>
          </p:grpSpPr>
          <p:pic>
            <p:nvPicPr>
              <p:cNvPr id="15" name="Picture 14">
                <a:extLst>
                  <a:ext uri="{FF2B5EF4-FFF2-40B4-BE49-F238E27FC236}">
                    <a16:creationId xmlns:a16="http://schemas.microsoft.com/office/drawing/2014/main" id="{32109131-E37A-A26D-27BB-C26374D5685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380950" y="1497701"/>
                <a:ext cx="646149" cy="646149"/>
              </a:xfrm>
              <a:prstGeom prst="rect">
                <a:avLst/>
              </a:prstGeom>
            </p:spPr>
          </p:pic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A9B3A23A-F006-3F73-FCC9-FA2E5D68C397}"/>
                  </a:ext>
                </a:extLst>
              </p:cNvPr>
              <p:cNvSpPr txBox="1"/>
              <p:nvPr/>
            </p:nvSpPr>
            <p:spPr>
              <a:xfrm>
                <a:off x="9060256" y="1594686"/>
                <a:ext cx="1128773" cy="5623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58" b="1" dirty="0">
                    <a:latin typeface="Bahnschrift" panose="020B0502040204020203" pitchFamily="34" charset="0"/>
                  </a:rPr>
                  <a:t>PostgreSQL Database</a:t>
                </a:r>
                <a:endParaRPr lang="en-ID" sz="858" dirty="0">
                  <a:latin typeface="Bahnschrift" panose="020B0502040204020203" pitchFamily="34" charset="0"/>
                </a:endParaRPr>
              </a:p>
            </p:txBody>
          </p:sp>
        </p:grp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6D12B8CE-35C6-5618-3118-0493C4315691}"/>
                </a:ext>
              </a:extLst>
            </p:cNvPr>
            <p:cNvSpPr txBox="1"/>
            <p:nvPr/>
          </p:nvSpPr>
          <p:spPr>
            <a:xfrm>
              <a:off x="8353235" y="4535150"/>
              <a:ext cx="2286000" cy="37595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58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858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property_address</a:t>
              </a:r>
              <a:endParaRPr lang="en-ID" sz="858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38" name="Connector: Elbow 37">
              <a:extLst>
                <a:ext uri="{FF2B5EF4-FFF2-40B4-BE49-F238E27FC236}">
                  <a16:creationId xmlns:a16="http://schemas.microsoft.com/office/drawing/2014/main" id="{BD76A6C0-4984-5313-DDB8-B95D39EEE8E7}"/>
                </a:ext>
              </a:extLst>
            </p:cNvPr>
            <p:cNvCxnSpPr>
              <a:cxnSpLocks/>
              <a:stCxn id="6" idx="3"/>
              <a:endCxn id="40" idx="1"/>
            </p:cNvCxnSpPr>
            <p:nvPr/>
          </p:nvCxnSpPr>
          <p:spPr>
            <a:xfrm flipV="1">
              <a:off x="2820744" y="2631388"/>
              <a:ext cx="2056717" cy="444468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or: Elbow 42">
              <a:extLst>
                <a:ext uri="{FF2B5EF4-FFF2-40B4-BE49-F238E27FC236}">
                  <a16:creationId xmlns:a16="http://schemas.microsoft.com/office/drawing/2014/main" id="{E31B76A9-6E57-AD85-1AC3-7132BBC4679F}"/>
                </a:ext>
              </a:extLst>
            </p:cNvPr>
            <p:cNvCxnSpPr>
              <a:cxnSpLocks/>
              <a:stCxn id="6" idx="3"/>
              <a:endCxn id="1032" idx="1"/>
            </p:cNvCxnSpPr>
            <p:nvPr/>
          </p:nvCxnSpPr>
          <p:spPr>
            <a:xfrm>
              <a:off x="2820744" y="3075856"/>
              <a:ext cx="2056717" cy="667541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20" name="Group 1119">
              <a:extLst>
                <a:ext uri="{FF2B5EF4-FFF2-40B4-BE49-F238E27FC236}">
                  <a16:creationId xmlns:a16="http://schemas.microsoft.com/office/drawing/2014/main" id="{F23C5C23-1140-043D-FBDB-2C48CA49365B}"/>
                </a:ext>
              </a:extLst>
            </p:cNvPr>
            <p:cNvGrpSpPr/>
            <p:nvPr/>
          </p:nvGrpSpPr>
          <p:grpSpPr>
            <a:xfrm>
              <a:off x="4877459" y="1466923"/>
              <a:ext cx="1920241" cy="4841794"/>
              <a:chOff x="5128876" y="1410573"/>
              <a:chExt cx="1920241" cy="4841794"/>
            </a:xfrm>
          </p:grpSpPr>
          <p:grpSp>
            <p:nvGrpSpPr>
              <p:cNvPr id="1119" name="Group 1118">
                <a:extLst>
                  <a:ext uri="{FF2B5EF4-FFF2-40B4-BE49-F238E27FC236}">
                    <a16:creationId xmlns:a16="http://schemas.microsoft.com/office/drawing/2014/main" id="{C2164D51-0C30-0A18-F9FA-098417C111BF}"/>
                  </a:ext>
                </a:extLst>
              </p:cNvPr>
              <p:cNvGrpSpPr>
                <a:grpSpLocks noChangeAspect="1"/>
              </p:cNvGrpSpPr>
              <p:nvPr/>
            </p:nvGrpSpPr>
            <p:grpSpPr>
              <a:xfrm>
                <a:off x="5128876" y="1410573"/>
                <a:ext cx="1920240" cy="568581"/>
                <a:chOff x="7990671" y="5292192"/>
                <a:chExt cx="3193839" cy="945692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EA6E1314-8778-FE27-2077-41F10471ED9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7990671" y="5323484"/>
                  <a:ext cx="914400" cy="914400"/>
                </a:xfrm>
                <a:prstGeom prst="rect">
                  <a:avLst/>
                </a:prstGeom>
              </p:spPr>
            </p:pic>
            <p:grpSp>
              <p:nvGrpSpPr>
                <p:cNvPr id="1118" name="Group 1117">
                  <a:extLst>
                    <a:ext uri="{FF2B5EF4-FFF2-40B4-BE49-F238E27FC236}">
                      <a16:creationId xmlns:a16="http://schemas.microsoft.com/office/drawing/2014/main" id="{4DE60210-8127-1F31-A536-ADBC78C0647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8891216" y="5292192"/>
                  <a:ext cx="2293294" cy="914400"/>
                  <a:chOff x="8254114" y="5006530"/>
                  <a:chExt cx="1949791" cy="777436"/>
                </a:xfrm>
              </p:grpSpPr>
              <p:grpSp>
                <p:nvGrpSpPr>
                  <p:cNvPr id="1117" name="Group 1116">
                    <a:extLst>
                      <a:ext uri="{FF2B5EF4-FFF2-40B4-BE49-F238E27FC236}">
                        <a16:creationId xmlns:a16="http://schemas.microsoft.com/office/drawing/2014/main" id="{5011EB18-742B-7763-68F2-6FDFF239534E}"/>
                      </a:ext>
                    </a:extLst>
                  </p:cNvPr>
                  <p:cNvGrpSpPr/>
                  <p:nvPr/>
                </p:nvGrpSpPr>
                <p:grpSpPr>
                  <a:xfrm>
                    <a:off x="8832305" y="5006530"/>
                    <a:ext cx="1371600" cy="758223"/>
                    <a:chOff x="8832305" y="5006530"/>
                    <a:chExt cx="1371600" cy="758223"/>
                  </a:xfrm>
                </p:grpSpPr>
                <p:pic>
                  <p:nvPicPr>
                    <p:cNvPr id="1028" name="Picture 4" descr="GitHub - seatgeek/thefuzz: Fuzzy String Matching in Python">
                      <a:extLst>
                        <a:ext uri="{FF2B5EF4-FFF2-40B4-BE49-F238E27FC236}">
                          <a16:creationId xmlns:a16="http://schemas.microsoft.com/office/drawing/2014/main" id="{31AE038B-1F01-02C7-B81C-3A45F01E7E72}"/>
                        </a:ext>
                      </a:extLst>
                    </p:cNvPr>
                    <p:cNvPicPr>
                      <a:picLocks noChangeAspect="1" noChangeArrowheads="1"/>
                    </p:cNvPicPr>
                    <p:nvPr/>
                  </p:nvPicPr>
                  <p:blipFill rotWithShape="1">
                    <a:blip r:embed="rId7">
                      <a:extLs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rcRect b="50000"/>
                    <a:stretch/>
                  </p:blipFill>
                  <p:spPr bwMode="auto">
                    <a:xfrm>
                      <a:off x="8832305" y="5421853"/>
                      <a:ext cx="1371600" cy="342900"/>
                    </a:xfrm>
                    <a:prstGeom prst="rect">
                      <a:avLst/>
                    </a:prstGeom>
                    <a:noFill/>
                    <a:extLst>
                      <a:ext uri="{909E8E84-426E-40DD-AFC4-6F175D3DCCD1}">
                        <a14:hiddenFill xmlns:a14="http://schemas.microsoft.com/office/drawing/2010/main">
                          <a:solidFill>
                            <a:srgbClr val="FFFFFF"/>
                          </a:solidFill>
                        </a14:hiddenFill>
                      </a:ext>
                    </a:extLst>
                  </p:spPr>
                </p:pic>
                <p:pic>
                  <p:nvPicPr>
                    <p:cNvPr id="19" name="Picture 18">
                      <a:extLst>
                        <a:ext uri="{FF2B5EF4-FFF2-40B4-BE49-F238E27FC236}">
                          <a16:creationId xmlns:a16="http://schemas.microsoft.com/office/drawing/2014/main" id="{4456EEBF-BA45-ECF4-ABB8-30534C40EE90}"/>
                        </a:ext>
                      </a:extLst>
                    </p:cNvPr>
                    <p:cNvPicPr>
                      <a:picLocks noChangeAspect="1"/>
                    </p:cNvPicPr>
                    <p:nvPr/>
                  </p:nvPicPr>
                  <p:blipFill>
                    <a:blip r:embed="rId8">
                      <a:extLst>
                        <a:ext uri="{BEBA8EAE-BF5A-486C-A8C5-ECC9F3942E4B}">
                          <a14:imgProps xmlns:a14="http://schemas.microsoft.com/office/drawing/2010/main">
                            <a14:imgLayer r:embed="rId9">
                              <a14:imgEffect>
                                <a14:backgroundRemoval t="10000" b="90000" l="10000" r="90000">
                                  <a14:foregroundMark x1="13120" y1="50340" x2="13120" y2="50340"/>
                                  <a14:foregroundMark x1="22449" y1="53741" x2="22449" y2="53741"/>
                                  <a14:foregroundMark x1="30029" y1="53741" x2="30029" y2="53741"/>
                                  <a14:foregroundMark x1="33236" y1="57143" x2="33236" y2="57143"/>
                                  <a14:foregroundMark x1="40525" y1="44898" x2="40525" y2="44898"/>
                                  <a14:foregroundMark x1="45481" y1="51020" x2="45481" y2="51020"/>
                                  <a14:foregroundMark x1="45481" y1="41497" x2="45481" y2="41497"/>
                                  <a14:foregroundMark x1="49563" y1="46259" x2="49563" y2="46259"/>
                                  <a14:foregroundMark x1="53061" y1="53061" x2="53061" y2="53061"/>
                                  <a14:foregroundMark x1="58892" y1="55102" x2="58892" y2="55102"/>
                                  <a14:foregroundMark x1="61808" y1="50340" x2="61808" y2="50340"/>
                                  <a14:foregroundMark x1="68513" y1="53741" x2="68513" y2="53741"/>
                                  <a14:foregroundMark x1="79300" y1="57823" x2="79300" y2="57823"/>
                                  <a14:foregroundMark x1="85714" y1="57823" x2="85714" y2="57823"/>
                                </a14:backgroundRemoval>
                              </a14:imgEffect>
                            </a14:imgLayer>
                          </a14:imgProps>
                        </a:ext>
                        <a:ext uri="{28A0092B-C50C-407E-A947-70E740481C1C}">
                          <a14:useLocalDpi xmlns:a14="http://schemas.microsoft.com/office/drawing/2010/main" val="0"/>
                        </a:ext>
                      </a:extLst>
                    </a:blip>
                    <a:stretch>
                      <a:fillRect/>
                    </a:stretch>
                  </p:blipFill>
                  <p:spPr>
                    <a:xfrm>
                      <a:off x="8832305" y="5006530"/>
                      <a:ext cx="1371600" cy="587829"/>
                    </a:xfrm>
                    <a:prstGeom prst="rect">
                      <a:avLst/>
                    </a:prstGeom>
                  </p:spPr>
                </p:pic>
              </p:grpSp>
              <p:pic>
                <p:nvPicPr>
                  <p:cNvPr id="1026" name="Picture 2" descr="The Psycopg Team · GitHub">
                    <a:extLst>
                      <a:ext uri="{FF2B5EF4-FFF2-40B4-BE49-F238E27FC236}">
                        <a16:creationId xmlns:a16="http://schemas.microsoft.com/office/drawing/2014/main" id="{B744E30B-20CA-6279-EB99-93D37D655F2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10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8254114" y="5108790"/>
                    <a:ext cx="675176" cy="675176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</p:grpSp>
          <p:grpSp>
            <p:nvGrpSpPr>
              <p:cNvPr id="1116" name="Group 1115">
                <a:extLst>
                  <a:ext uri="{FF2B5EF4-FFF2-40B4-BE49-F238E27FC236}">
                    <a16:creationId xmlns:a16="http://schemas.microsoft.com/office/drawing/2014/main" id="{943C4654-9FCC-8BCA-A498-B48F09A56154}"/>
                  </a:ext>
                </a:extLst>
              </p:cNvPr>
              <p:cNvGrpSpPr/>
              <p:nvPr/>
            </p:nvGrpSpPr>
            <p:grpSpPr>
              <a:xfrm>
                <a:off x="5128877" y="2246193"/>
                <a:ext cx="1920240" cy="4006174"/>
                <a:chOff x="4872825" y="1697528"/>
                <a:chExt cx="1920240" cy="4006174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A576B441-F6F9-5FBF-1CF5-F11D16DB98A5}"/>
                    </a:ext>
                  </a:extLst>
                </p:cNvPr>
                <p:cNvSpPr txBox="1"/>
                <p:nvPr/>
              </p:nvSpPr>
              <p:spPr>
                <a:xfrm>
                  <a:off x="4872825" y="1697528"/>
                  <a:ext cx="1920240" cy="65769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36" b="1" dirty="0">
                      <a:latin typeface="Bahnschrift" panose="020B0502040204020203" pitchFamily="34" charset="0"/>
                    </a:rPr>
                    <a:t>PropertyLinkUpdater.py</a:t>
                  </a:r>
                </a:p>
                <a:p>
                  <a:pPr algn="ctr"/>
                  <a:r>
                    <a:rPr lang="en-US" sz="643" dirty="0"/>
                    <a:t>Retrieve new link daily updated using </a:t>
                  </a:r>
                  <a:r>
                    <a:rPr lang="en-US" sz="643" b="1" dirty="0"/>
                    <a:t>crontab</a:t>
                  </a:r>
                  <a:endParaRPr lang="en-ID" sz="643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32" name="TextBox 1031">
                  <a:extLst>
                    <a:ext uri="{FF2B5EF4-FFF2-40B4-BE49-F238E27FC236}">
                      <a16:creationId xmlns:a16="http://schemas.microsoft.com/office/drawing/2014/main" id="{61EC7B0A-C0CE-8143-7238-07922BCE3775}"/>
                    </a:ext>
                  </a:extLst>
                </p:cNvPr>
                <p:cNvSpPr txBox="1"/>
                <p:nvPr/>
              </p:nvSpPr>
              <p:spPr>
                <a:xfrm>
                  <a:off x="4872825" y="2636595"/>
                  <a:ext cx="1920240" cy="1003574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36" b="1" dirty="0">
                      <a:latin typeface="Bahnschrift" panose="020B0502040204020203" pitchFamily="34" charset="0"/>
                    </a:rPr>
                    <a:t>PropertyDetilUpdater.py</a:t>
                  </a:r>
                </a:p>
                <a:p>
                  <a:pPr algn="ctr"/>
                  <a:r>
                    <a:rPr lang="en-US" sz="643" dirty="0"/>
                    <a:t>Retrieve all detailed data (price, address, </a:t>
                  </a:r>
                  <a:r>
                    <a:rPr lang="en-US" sz="643" dirty="0" err="1"/>
                    <a:t>etc</a:t>
                  </a:r>
                  <a:r>
                    <a:rPr lang="en-US" sz="643" dirty="0"/>
                    <a:t>) from each link and store into table</a:t>
                  </a:r>
                  <a:endParaRPr lang="en-ID" sz="643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041" name="TextBox 1040">
                  <a:extLst>
                    <a:ext uri="{FF2B5EF4-FFF2-40B4-BE49-F238E27FC236}">
                      <a16:creationId xmlns:a16="http://schemas.microsoft.com/office/drawing/2014/main" id="{244A2F87-50F1-20C3-6465-2D14091D8677}"/>
                    </a:ext>
                  </a:extLst>
                </p:cNvPr>
                <p:cNvSpPr txBox="1"/>
                <p:nvPr/>
              </p:nvSpPr>
              <p:spPr>
                <a:xfrm>
                  <a:off x="4872825" y="3737245"/>
                  <a:ext cx="1920240" cy="1007639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36" b="1" dirty="0">
                      <a:latin typeface="Bahnschrift" panose="020B0502040204020203" pitchFamily="34" charset="0"/>
                    </a:rPr>
                    <a:t>AddressMatching.py</a:t>
                  </a:r>
                </a:p>
                <a:p>
                  <a:pPr algn="ctr"/>
                  <a:r>
                    <a:rPr lang="en-US" sz="643" dirty="0"/>
                    <a:t>Convert property address into standard Indonesian Address using </a:t>
                  </a:r>
                  <a:r>
                    <a:rPr lang="en-US" sz="643" b="1" dirty="0"/>
                    <a:t>Fuzzy String Matching</a:t>
                  </a:r>
                  <a:endParaRPr lang="en-ID" sz="643" b="1" dirty="0">
                    <a:latin typeface="Bahnschrift" panose="020B0502040204020203" pitchFamily="34" charset="0"/>
                  </a:endParaRPr>
                </a:p>
              </p:txBody>
            </p:sp>
            <p:sp>
              <p:nvSpPr>
                <p:cNvPr id="1109" name="TextBox 1108">
                  <a:extLst>
                    <a:ext uri="{FF2B5EF4-FFF2-40B4-BE49-F238E27FC236}">
                      <a16:creationId xmlns:a16="http://schemas.microsoft.com/office/drawing/2014/main" id="{7F37FD3E-FB19-A89B-E866-FD2746C5F9A0}"/>
                    </a:ext>
                  </a:extLst>
                </p:cNvPr>
                <p:cNvSpPr txBox="1"/>
                <p:nvPr/>
              </p:nvSpPr>
              <p:spPr>
                <a:xfrm>
                  <a:off x="4872825" y="4837892"/>
                  <a:ext cx="1920240" cy="865810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square" rtlCol="0">
                  <a:spAutoFit/>
                </a:bodyPr>
                <a:lstStyle/>
                <a:p>
                  <a:pPr algn="ctr"/>
                  <a:r>
                    <a:rPr lang="en-US" sz="736" b="1" dirty="0">
                      <a:latin typeface="Bahnschrift" panose="020B0502040204020203" pitchFamily="34" charset="0"/>
                    </a:rPr>
                    <a:t>LineNotificationSender.py</a:t>
                  </a:r>
                </a:p>
                <a:p>
                  <a:pPr algn="ctr"/>
                  <a:r>
                    <a:rPr lang="en-US" sz="643" dirty="0"/>
                    <a:t>Select new and filtered data and send  using </a:t>
                  </a:r>
                  <a:r>
                    <a:rPr lang="en-US" sz="643" b="1" dirty="0"/>
                    <a:t>Line API </a:t>
                  </a:r>
                  <a:endParaRPr lang="en-ID" sz="643" b="1" dirty="0">
                    <a:latin typeface="Bahnschrift" panose="020B0502040204020203" pitchFamily="34" charset="0"/>
                  </a:endParaRPr>
                </a:p>
              </p:txBody>
            </p:sp>
          </p:grpSp>
        </p:grpSp>
        <p:cxnSp>
          <p:nvCxnSpPr>
            <p:cNvPr id="1128" name="Straight Arrow Connector 1127">
              <a:extLst>
                <a:ext uri="{FF2B5EF4-FFF2-40B4-BE49-F238E27FC236}">
                  <a16:creationId xmlns:a16="http://schemas.microsoft.com/office/drawing/2014/main" id="{FA389291-E329-EE00-512B-483F2CB03C6F}"/>
                </a:ext>
              </a:extLst>
            </p:cNvPr>
            <p:cNvCxnSpPr>
              <a:stCxn id="1041" idx="3"/>
              <a:endCxn id="29" idx="1"/>
            </p:cNvCxnSpPr>
            <p:nvPr/>
          </p:nvCxnSpPr>
          <p:spPr>
            <a:xfrm flipV="1">
              <a:off x="6797700" y="4723131"/>
              <a:ext cx="1555535" cy="12294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9" name="TextBox 1128">
              <a:extLst>
                <a:ext uri="{FF2B5EF4-FFF2-40B4-BE49-F238E27FC236}">
                  <a16:creationId xmlns:a16="http://schemas.microsoft.com/office/drawing/2014/main" id="{7D3A1F0F-DEAF-A2D5-DE03-C5E1CD1D5779}"/>
                </a:ext>
              </a:extLst>
            </p:cNvPr>
            <p:cNvSpPr txBox="1"/>
            <p:nvPr/>
          </p:nvSpPr>
          <p:spPr>
            <a:xfrm>
              <a:off x="8317027" y="3438274"/>
              <a:ext cx="2286000" cy="37595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58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858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property_detil</a:t>
              </a:r>
              <a:endParaRPr lang="en-ID" sz="858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0" name="Straight Arrow Connector 1129">
              <a:extLst>
                <a:ext uri="{FF2B5EF4-FFF2-40B4-BE49-F238E27FC236}">
                  <a16:creationId xmlns:a16="http://schemas.microsoft.com/office/drawing/2014/main" id="{D35E9EA7-A05F-5501-B42C-4861EF1E08DF}"/>
                </a:ext>
              </a:extLst>
            </p:cNvPr>
            <p:cNvCxnSpPr>
              <a:cxnSpLocks/>
              <a:stCxn id="1032" idx="3"/>
              <a:endCxn id="1129" idx="1"/>
            </p:cNvCxnSpPr>
            <p:nvPr/>
          </p:nvCxnSpPr>
          <p:spPr>
            <a:xfrm flipV="1">
              <a:off x="6797701" y="3626254"/>
              <a:ext cx="1519326" cy="117144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4" name="Connector: Elbow 1133">
              <a:extLst>
                <a:ext uri="{FF2B5EF4-FFF2-40B4-BE49-F238E27FC236}">
                  <a16:creationId xmlns:a16="http://schemas.microsoft.com/office/drawing/2014/main" id="{8CD2E6BF-44C0-8BBA-FBA3-D817B99B1670}"/>
                </a:ext>
              </a:extLst>
            </p:cNvPr>
            <p:cNvCxnSpPr>
              <a:stCxn id="1129" idx="2"/>
              <a:endCxn id="1041" idx="0"/>
            </p:cNvCxnSpPr>
            <p:nvPr/>
          </p:nvCxnSpPr>
          <p:spPr>
            <a:xfrm rot="5400000">
              <a:off x="7384792" y="2267023"/>
              <a:ext cx="528027" cy="3622447"/>
            </a:xfrm>
            <a:prstGeom prst="bentConnector3">
              <a:avLst>
                <a:gd name="adj1" fmla="val 50000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38EDF837-C11C-EA3D-695C-4E948CCF2177}"/>
                </a:ext>
              </a:extLst>
            </p:cNvPr>
            <p:cNvSpPr txBox="1"/>
            <p:nvPr/>
          </p:nvSpPr>
          <p:spPr>
            <a:xfrm>
              <a:off x="8308381" y="2410948"/>
              <a:ext cx="2286000" cy="375959"/>
            </a:xfrm>
            <a:prstGeom prst="rect">
              <a:avLst/>
            </a:prstGeom>
            <a:solidFill>
              <a:srgbClr val="0070C0"/>
            </a:solidFill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858" b="1" dirty="0">
                  <a:solidFill>
                    <a:schemeClr val="bg1"/>
                  </a:solidFill>
                  <a:latin typeface="Bahnschrift" panose="020B0502040204020203" pitchFamily="34" charset="0"/>
                </a:rPr>
                <a:t>table: </a:t>
              </a:r>
              <a:r>
                <a:rPr lang="en-US" sz="858" b="1" dirty="0" err="1">
                  <a:solidFill>
                    <a:schemeClr val="bg1"/>
                  </a:solidFill>
                  <a:latin typeface="Bahnschrift" panose="020B0502040204020203" pitchFamily="34" charset="0"/>
                </a:rPr>
                <a:t>property_link</a:t>
              </a:r>
              <a:endParaRPr lang="en-ID" sz="858" b="1" dirty="0">
                <a:solidFill>
                  <a:schemeClr val="bg1"/>
                </a:solidFill>
                <a:latin typeface="Bahnschrift" panose="020B0502040204020203" pitchFamily="34" charset="0"/>
              </a:endParaRPr>
            </a:p>
          </p:txBody>
        </p:sp>
        <p:cxnSp>
          <p:nvCxnSpPr>
            <p:cNvPr id="1138" name="Straight Arrow Connector 1137">
              <a:extLst>
                <a:ext uri="{FF2B5EF4-FFF2-40B4-BE49-F238E27FC236}">
                  <a16:creationId xmlns:a16="http://schemas.microsoft.com/office/drawing/2014/main" id="{3995CDFF-E648-2247-7A14-39F90CD8290F}"/>
                </a:ext>
              </a:extLst>
            </p:cNvPr>
            <p:cNvCxnSpPr>
              <a:cxnSpLocks/>
              <a:stCxn id="40" idx="3"/>
              <a:endCxn id="1137" idx="1"/>
            </p:cNvCxnSpPr>
            <p:nvPr/>
          </p:nvCxnSpPr>
          <p:spPr>
            <a:xfrm flipV="1">
              <a:off x="6797701" y="2598928"/>
              <a:ext cx="1510679" cy="32460"/>
            </a:xfrm>
            <a:prstGeom prst="straightConnector1">
              <a:avLst/>
            </a:prstGeom>
            <a:ln w="28575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3" name="Connector: Elbow 1142">
              <a:extLst>
                <a:ext uri="{FF2B5EF4-FFF2-40B4-BE49-F238E27FC236}">
                  <a16:creationId xmlns:a16="http://schemas.microsoft.com/office/drawing/2014/main" id="{D6996BDC-9872-92B5-37F1-E732CABD3D14}"/>
                </a:ext>
              </a:extLst>
            </p:cNvPr>
            <p:cNvCxnSpPr>
              <a:cxnSpLocks/>
              <a:stCxn id="1129" idx="3"/>
              <a:endCxn id="1109" idx="3"/>
            </p:cNvCxnSpPr>
            <p:nvPr/>
          </p:nvCxnSpPr>
          <p:spPr>
            <a:xfrm flipH="1">
              <a:off x="6797700" y="3626254"/>
              <a:ext cx="3805328" cy="2249558"/>
            </a:xfrm>
            <a:prstGeom prst="bentConnector3">
              <a:avLst>
                <a:gd name="adj1" fmla="val -10067"/>
              </a:avLst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9" name="Straight Arrow Connector 1148">
              <a:extLst>
                <a:ext uri="{FF2B5EF4-FFF2-40B4-BE49-F238E27FC236}">
                  <a16:creationId xmlns:a16="http://schemas.microsoft.com/office/drawing/2014/main" id="{6FA62499-AEFD-C959-185D-5F512EF7EA32}"/>
                </a:ext>
              </a:extLst>
            </p:cNvPr>
            <p:cNvCxnSpPr>
              <a:cxnSpLocks/>
              <a:stCxn id="1109" idx="1"/>
              <a:endCxn id="20" idx="3"/>
            </p:cNvCxnSpPr>
            <p:nvPr/>
          </p:nvCxnSpPr>
          <p:spPr>
            <a:xfrm flipH="1" flipV="1">
              <a:off x="3292898" y="5778253"/>
              <a:ext cx="1584562" cy="97559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55" name="TextBox 1154">
            <a:extLst>
              <a:ext uri="{FF2B5EF4-FFF2-40B4-BE49-F238E27FC236}">
                <a16:creationId xmlns:a16="http://schemas.microsoft.com/office/drawing/2014/main" id="{63BF7A0B-8380-AA02-FD51-B1C5A6A98F06}"/>
              </a:ext>
            </a:extLst>
          </p:cNvPr>
          <p:cNvSpPr txBox="1"/>
          <p:nvPr/>
        </p:nvSpPr>
        <p:spPr>
          <a:xfrm>
            <a:off x="3919381" y="1725723"/>
            <a:ext cx="560917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74" dirty="0"/>
              <a:t>request</a:t>
            </a:r>
          </a:p>
        </p:txBody>
      </p:sp>
      <p:sp>
        <p:nvSpPr>
          <p:cNvPr id="1156" name="TextBox 1155">
            <a:extLst>
              <a:ext uri="{FF2B5EF4-FFF2-40B4-BE49-F238E27FC236}">
                <a16:creationId xmlns:a16="http://schemas.microsoft.com/office/drawing/2014/main" id="{BCE45EE8-A5D8-56C2-198E-0196D57BF883}"/>
              </a:ext>
            </a:extLst>
          </p:cNvPr>
          <p:cNvSpPr txBox="1"/>
          <p:nvPr/>
        </p:nvSpPr>
        <p:spPr>
          <a:xfrm>
            <a:off x="3919381" y="1895370"/>
            <a:ext cx="560917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74" dirty="0"/>
              <a:t>response</a:t>
            </a:r>
          </a:p>
        </p:txBody>
      </p:sp>
      <p:sp>
        <p:nvSpPr>
          <p:cNvPr id="1157" name="TextBox 1156">
            <a:extLst>
              <a:ext uri="{FF2B5EF4-FFF2-40B4-BE49-F238E27FC236}">
                <a16:creationId xmlns:a16="http://schemas.microsoft.com/office/drawing/2014/main" id="{366E8D9F-203C-A375-7DC5-13205DB2D424}"/>
              </a:ext>
            </a:extLst>
          </p:cNvPr>
          <p:cNvSpPr txBox="1"/>
          <p:nvPr/>
        </p:nvSpPr>
        <p:spPr>
          <a:xfrm>
            <a:off x="6378579" y="1434549"/>
            <a:ext cx="791005" cy="1960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74" dirty="0"/>
              <a:t>check availability</a:t>
            </a:r>
          </a:p>
        </p:txBody>
      </p:sp>
      <p:sp>
        <p:nvSpPr>
          <p:cNvPr id="1158" name="TextBox 1157">
            <a:extLst>
              <a:ext uri="{FF2B5EF4-FFF2-40B4-BE49-F238E27FC236}">
                <a16:creationId xmlns:a16="http://schemas.microsoft.com/office/drawing/2014/main" id="{74ED4F24-855A-7EE4-9CF4-6BA1E13BDCF3}"/>
              </a:ext>
            </a:extLst>
          </p:cNvPr>
          <p:cNvSpPr txBox="1"/>
          <p:nvPr/>
        </p:nvSpPr>
        <p:spPr>
          <a:xfrm>
            <a:off x="6378579" y="1587550"/>
            <a:ext cx="791005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74" dirty="0"/>
              <a:t>Insert new link</a:t>
            </a:r>
          </a:p>
        </p:txBody>
      </p:sp>
      <p:sp>
        <p:nvSpPr>
          <p:cNvPr id="1159" name="TextBox 1158">
            <a:extLst>
              <a:ext uri="{FF2B5EF4-FFF2-40B4-BE49-F238E27FC236}">
                <a16:creationId xmlns:a16="http://schemas.microsoft.com/office/drawing/2014/main" id="{1B37FB7C-CB1A-A3EF-E383-6D26EFC43B3F}"/>
              </a:ext>
            </a:extLst>
          </p:cNvPr>
          <p:cNvSpPr txBox="1"/>
          <p:nvPr/>
        </p:nvSpPr>
        <p:spPr>
          <a:xfrm>
            <a:off x="6367474" y="2061391"/>
            <a:ext cx="791005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D" sz="674" dirty="0"/>
              <a:t>Insert data</a:t>
            </a:r>
          </a:p>
        </p:txBody>
      </p:sp>
      <p:sp>
        <p:nvSpPr>
          <p:cNvPr id="1160" name="TextBox 1159">
            <a:extLst>
              <a:ext uri="{FF2B5EF4-FFF2-40B4-BE49-F238E27FC236}">
                <a16:creationId xmlns:a16="http://schemas.microsoft.com/office/drawing/2014/main" id="{CD329F69-5EEE-246B-812A-15A9F5181150}"/>
              </a:ext>
            </a:extLst>
          </p:cNvPr>
          <p:cNvSpPr txBox="1"/>
          <p:nvPr/>
        </p:nvSpPr>
        <p:spPr>
          <a:xfrm>
            <a:off x="6378578" y="2371649"/>
            <a:ext cx="791005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74" dirty="0"/>
              <a:t>g</a:t>
            </a:r>
            <a:r>
              <a:rPr lang="en-ID" sz="674" dirty="0"/>
              <a:t>et address</a:t>
            </a:r>
          </a:p>
        </p:txBody>
      </p:sp>
      <p:sp>
        <p:nvSpPr>
          <p:cNvPr id="1161" name="TextBox 1160">
            <a:extLst>
              <a:ext uri="{FF2B5EF4-FFF2-40B4-BE49-F238E27FC236}">
                <a16:creationId xmlns:a16="http://schemas.microsoft.com/office/drawing/2014/main" id="{5C426D64-DB2C-2146-3D4E-4D21B94ECFFC}"/>
              </a:ext>
            </a:extLst>
          </p:cNvPr>
          <p:cNvSpPr txBox="1"/>
          <p:nvPr/>
        </p:nvSpPr>
        <p:spPr>
          <a:xfrm>
            <a:off x="6289121" y="2727849"/>
            <a:ext cx="995330" cy="308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74" dirty="0"/>
              <a:t>Insert standard </a:t>
            </a:r>
            <a:r>
              <a:rPr lang="en-ID" sz="674" dirty="0"/>
              <a:t>address</a:t>
            </a:r>
          </a:p>
        </p:txBody>
      </p:sp>
      <p:sp>
        <p:nvSpPr>
          <p:cNvPr id="1162" name="TextBox 1161">
            <a:extLst>
              <a:ext uri="{FF2B5EF4-FFF2-40B4-BE49-F238E27FC236}">
                <a16:creationId xmlns:a16="http://schemas.microsoft.com/office/drawing/2014/main" id="{A9115837-AA2E-735F-01A2-8D7CBA533D4D}"/>
              </a:ext>
            </a:extLst>
          </p:cNvPr>
          <p:cNvSpPr txBox="1"/>
          <p:nvPr/>
        </p:nvSpPr>
        <p:spPr>
          <a:xfrm>
            <a:off x="6254049" y="3345966"/>
            <a:ext cx="1263781" cy="2015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74" dirty="0"/>
              <a:t>Select new and filtered data</a:t>
            </a:r>
            <a:endParaRPr lang="en-ID" sz="674" dirty="0"/>
          </a:p>
        </p:txBody>
      </p:sp>
    </p:spTree>
    <p:extLst>
      <p:ext uri="{BB962C8B-B14F-4D97-AF65-F5344CB8AC3E}">
        <p14:creationId xmlns:p14="http://schemas.microsoft.com/office/powerpoint/2010/main" val="1340737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21B6605E-37F8-81C9-A76A-8E3113A133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754" y="397048"/>
            <a:ext cx="3477073" cy="14938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FC1098B-7F28-8F91-34CB-47BF5CEDFFD1}"/>
              </a:ext>
            </a:extLst>
          </p:cNvPr>
          <p:cNvSpPr txBox="1"/>
          <p:nvPr/>
        </p:nvSpPr>
        <p:spPr>
          <a:xfrm>
            <a:off x="3249159" y="110488"/>
            <a:ext cx="5592870" cy="2695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4" b="1" u="sng" dirty="0">
                <a:latin typeface="Bahnschrift" panose="020B0502040204020203" pitchFamily="34" charset="0"/>
                <a:cs typeface="Arial" panose="020B0604020202020204" pitchFamily="34" charset="0"/>
              </a:rPr>
              <a:t>End-to-End Property Data Solutions: From Acquisition to Visualization and Insights</a:t>
            </a:r>
            <a:endParaRPr lang="en-ID" sz="1104" b="1" u="sng" dirty="0">
              <a:latin typeface="Bahnschrift" panose="020B0502040204020203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6FF080-E8AD-D945-CCD8-D6A11C0D6524}"/>
              </a:ext>
            </a:extLst>
          </p:cNvPr>
          <p:cNvSpPr txBox="1"/>
          <p:nvPr/>
        </p:nvSpPr>
        <p:spPr>
          <a:xfrm flipH="1">
            <a:off x="5934518" y="529504"/>
            <a:ext cx="3831733" cy="7717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36" dirty="0">
                <a:cs typeface="Arial" panose="020B0604020202020204" pitchFamily="34" charset="0"/>
              </a:rPr>
              <a:t>Over the past </a:t>
            </a:r>
            <a:r>
              <a:rPr lang="en-US" sz="736" b="1" dirty="0">
                <a:solidFill>
                  <a:srgbClr val="0070C0"/>
                </a:solidFill>
                <a:cs typeface="Arial" panose="020B0604020202020204" pitchFamily="34" charset="0"/>
              </a:rPr>
              <a:t>five years</a:t>
            </a:r>
            <a:r>
              <a:rPr lang="en-US" sz="736" dirty="0">
                <a:cs typeface="Arial" panose="020B0604020202020204" pitchFamily="34" charset="0"/>
              </a:rPr>
              <a:t>, we have observed a </a:t>
            </a:r>
            <a:r>
              <a:rPr lang="en-US" sz="736" b="1" dirty="0">
                <a:solidFill>
                  <a:srgbClr val="FF0000"/>
                </a:solidFill>
                <a:cs typeface="Arial" panose="020B0604020202020204" pitchFamily="34" charset="0"/>
              </a:rPr>
              <a:t>significant</a:t>
            </a:r>
            <a:r>
              <a:rPr lang="en-US" sz="736" dirty="0">
                <a:cs typeface="Arial" panose="020B0604020202020204" pitchFamily="34" charset="0"/>
              </a:rPr>
              <a:t> </a:t>
            </a:r>
            <a:r>
              <a:rPr lang="en-US" sz="736" b="1" dirty="0">
                <a:solidFill>
                  <a:srgbClr val="FF0000"/>
                </a:solidFill>
                <a:cs typeface="Arial" panose="020B0604020202020204" pitchFamily="34" charset="0"/>
              </a:rPr>
              <a:t>decline</a:t>
            </a:r>
            <a:r>
              <a:rPr lang="en-US" sz="736" dirty="0">
                <a:cs typeface="Arial" panose="020B0604020202020204" pitchFamily="34" charset="0"/>
              </a:rPr>
              <a:t> in residential property prices in Indonesia. Specifically, the median residential price, which was IDR 1.370 million five years ago, has decreased to IDR 830 million in 2024. This represents a </a:t>
            </a:r>
            <a:r>
              <a:rPr lang="en-US" sz="736" b="1" dirty="0">
                <a:solidFill>
                  <a:srgbClr val="FF0000"/>
                </a:solidFill>
                <a:cs typeface="Arial" panose="020B0604020202020204" pitchFamily="34" charset="0"/>
              </a:rPr>
              <a:t>decrease of approximately 39.42%.</a:t>
            </a:r>
          </a:p>
          <a:p>
            <a:pPr algn="just"/>
            <a:endParaRPr lang="en-US" sz="736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736" dirty="0">
                <a:cs typeface="Arial" panose="020B0604020202020204" pitchFamily="34" charset="0"/>
              </a:rPr>
              <a:t>With prices significantly lower, this may be an opportune time to purchase residential property, potentially securing a good deal before prices stabilize or increase</a:t>
            </a:r>
            <a:endParaRPr lang="en-ID" sz="736" dirty="0"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5641A69-1E68-BD1E-D269-45C4C1FD771F}"/>
              </a:ext>
            </a:extLst>
          </p:cNvPr>
          <p:cNvSpPr txBox="1"/>
          <p:nvPr/>
        </p:nvSpPr>
        <p:spPr>
          <a:xfrm>
            <a:off x="5928323" y="340708"/>
            <a:ext cx="2625400" cy="23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858" b="1" u="sng" dirty="0">
                <a:solidFill>
                  <a:srgbClr val="0070C0"/>
                </a:solidFill>
                <a:cs typeface="Arial" panose="020B0604020202020204" pitchFamily="34" charset="0"/>
              </a:rPr>
              <a:t>Summary of Residential Price</a:t>
            </a:r>
            <a:endParaRPr lang="en-ID" sz="858" b="1" u="sng" dirty="0">
              <a:solidFill>
                <a:srgbClr val="0070C0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BDB42BAD-4490-ADC6-6DE6-29E0F4DD3C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1848" y="1320502"/>
            <a:ext cx="3477072" cy="1745923"/>
          </a:xfrm>
          <a:prstGeom prst="rect">
            <a:avLst/>
          </a:prstGeom>
        </p:spPr>
      </p:pic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FF57F190-7714-7FED-7E31-6EB56A7F66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05238478"/>
              </p:ext>
            </p:extLst>
          </p:nvPr>
        </p:nvGraphicFramePr>
        <p:xfrm>
          <a:off x="2457834" y="2069447"/>
          <a:ext cx="3593931" cy="1044939"/>
        </p:xfrm>
        <a:graphic>
          <a:graphicData uri="http://schemas.openxmlformats.org/drawingml/2006/table">
            <a:tbl>
              <a:tblPr/>
              <a:tblGrid>
                <a:gridCol w="545725">
                  <a:extLst>
                    <a:ext uri="{9D8B030D-6E8A-4147-A177-3AD203B41FA5}">
                      <a16:colId xmlns:a16="http://schemas.microsoft.com/office/drawing/2014/main" val="3757506779"/>
                    </a:ext>
                  </a:extLst>
                </a:gridCol>
                <a:gridCol w="687762">
                  <a:extLst>
                    <a:ext uri="{9D8B030D-6E8A-4147-A177-3AD203B41FA5}">
                      <a16:colId xmlns:a16="http://schemas.microsoft.com/office/drawing/2014/main" val="4234399326"/>
                    </a:ext>
                  </a:extLst>
                </a:gridCol>
                <a:gridCol w="358832">
                  <a:extLst>
                    <a:ext uri="{9D8B030D-6E8A-4147-A177-3AD203B41FA5}">
                      <a16:colId xmlns:a16="http://schemas.microsoft.com/office/drawing/2014/main" val="2113463708"/>
                    </a:ext>
                  </a:extLst>
                </a:gridCol>
                <a:gridCol w="667204">
                  <a:extLst>
                    <a:ext uri="{9D8B030D-6E8A-4147-A177-3AD203B41FA5}">
                      <a16:colId xmlns:a16="http://schemas.microsoft.com/office/drawing/2014/main" val="2778231199"/>
                    </a:ext>
                  </a:extLst>
                </a:gridCol>
                <a:gridCol w="667204">
                  <a:extLst>
                    <a:ext uri="{9D8B030D-6E8A-4147-A177-3AD203B41FA5}">
                      <a16:colId xmlns:a16="http://schemas.microsoft.com/office/drawing/2014/main" val="2857014674"/>
                    </a:ext>
                  </a:extLst>
                </a:gridCol>
                <a:gridCol w="667204">
                  <a:extLst>
                    <a:ext uri="{9D8B030D-6E8A-4147-A177-3AD203B41FA5}">
                      <a16:colId xmlns:a16="http://schemas.microsoft.com/office/drawing/2014/main" val="3319472211"/>
                    </a:ext>
                  </a:extLst>
                </a:gridCol>
              </a:tblGrid>
              <a:tr h="112310"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Province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Mean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Rank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Q1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Q2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Q3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0996454"/>
                  </a:ext>
                </a:extLst>
              </a:tr>
              <a:tr h="112310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DKI Jakarta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2,026,530,485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1,250,000,000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1,750,000,000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2,550,000,128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1165628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Bali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1,308,709,675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775,000,000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1,225,000,000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1,470,000,000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57111915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Barat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966,376,064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571,000,000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880,000,000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890,000,000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9974569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Timur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962,122,434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4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600,000,000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935,000,000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980,000,000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4499840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DI Yogyakarta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959,525,414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325,000,000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400,000,000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773,000,000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8014161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Banten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766,546,297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700,000,000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750,000,000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750,000,000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8484927"/>
                  </a:ext>
                </a:extLst>
              </a:tr>
              <a:tr h="106696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Jawa Tengah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 569,098,641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340,000,096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463,800,000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Rp       592,000,128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44114"/>
                  </a:ext>
                </a:extLst>
              </a:tr>
              <a:tr h="180143"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Grand Total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 943,003,228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-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1" i="0" u="none" strike="noStrike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630,000,000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750,000,000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D" sz="500" b="1" i="0" u="none" strike="noStrike" dirty="0">
                          <a:solidFill>
                            <a:srgbClr val="FFFFFF"/>
                          </a:solidFill>
                          <a:effectLst/>
                          <a:highlight>
                            <a:srgbClr val="00B0F0"/>
                          </a:highlight>
                          <a:latin typeface="Arial" panose="020B0604020202020204" pitchFamily="34" charset="0"/>
                        </a:rPr>
                        <a:t> Rp        880,000,000 </a:t>
                      </a:r>
                    </a:p>
                  </a:txBody>
                  <a:tcPr marL="5616" marR="5616" marT="561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55378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17169605-11D2-29AB-45D1-91F676B3D5CE}"/>
              </a:ext>
            </a:extLst>
          </p:cNvPr>
          <p:cNvSpPr txBox="1"/>
          <p:nvPr/>
        </p:nvSpPr>
        <p:spPr>
          <a:xfrm flipH="1">
            <a:off x="2425757" y="3167619"/>
            <a:ext cx="3593930" cy="102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36" b="1" dirty="0">
                <a:solidFill>
                  <a:srgbClr val="FF0000"/>
                </a:solidFill>
              </a:rPr>
              <a:t>DKI Jakarta has the highest </a:t>
            </a:r>
            <a:r>
              <a:rPr lang="en-US" sz="736" dirty="0"/>
              <a:t>residential property prices among the provinces in Java. The high mean price and quartile values </a:t>
            </a:r>
            <a:r>
              <a:rPr lang="en-US" sz="736" b="1" dirty="0">
                <a:solidFill>
                  <a:srgbClr val="0070C0"/>
                </a:solidFill>
              </a:rPr>
              <a:t>indicate a significant demand and higher cost of living in the capital city</a:t>
            </a:r>
            <a:r>
              <a:rPr lang="en-US" sz="736" dirty="0"/>
              <a:t>. Bali ranks second with relatively high property prices, reflecting its status as a </a:t>
            </a:r>
            <a:r>
              <a:rPr lang="en-US" sz="736" b="1" dirty="0">
                <a:solidFill>
                  <a:srgbClr val="FF0000"/>
                </a:solidFill>
              </a:rPr>
              <a:t>popular tourist destination </a:t>
            </a:r>
            <a:r>
              <a:rPr lang="en-US" sz="736" dirty="0"/>
              <a:t>and desirable place to live.</a:t>
            </a:r>
          </a:p>
          <a:p>
            <a:pPr algn="just"/>
            <a:endParaRPr lang="en-US" sz="736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736" dirty="0" err="1">
                <a:cs typeface="Arial" panose="020B0604020202020204" pitchFamily="34" charset="0"/>
              </a:rPr>
              <a:t>Jawa</a:t>
            </a:r>
            <a:r>
              <a:rPr lang="en-US" sz="736" dirty="0">
                <a:cs typeface="Arial" panose="020B0604020202020204" pitchFamily="34" charset="0"/>
              </a:rPr>
              <a:t> Barat, </a:t>
            </a:r>
            <a:r>
              <a:rPr lang="en-US" sz="736" dirty="0" err="1">
                <a:cs typeface="Arial" panose="020B0604020202020204" pitchFamily="34" charset="0"/>
              </a:rPr>
              <a:t>Jawa</a:t>
            </a:r>
            <a:r>
              <a:rPr lang="en-US" sz="736" dirty="0">
                <a:cs typeface="Arial" panose="020B0604020202020204" pitchFamily="34" charset="0"/>
              </a:rPr>
              <a:t> Timur, and DI Yogyakarta </a:t>
            </a:r>
            <a:r>
              <a:rPr lang="en-US" sz="736" dirty="0"/>
              <a:t>have moderate residential prices, with </a:t>
            </a:r>
            <a:r>
              <a:rPr lang="en-US" sz="736" b="1" dirty="0" err="1">
                <a:solidFill>
                  <a:srgbClr val="0070C0"/>
                </a:solidFill>
              </a:rPr>
              <a:t>Jawa</a:t>
            </a:r>
            <a:r>
              <a:rPr lang="en-US" sz="736" b="1" dirty="0">
                <a:solidFill>
                  <a:srgbClr val="0070C0"/>
                </a:solidFill>
              </a:rPr>
              <a:t> Barat and </a:t>
            </a:r>
            <a:r>
              <a:rPr lang="en-US" sz="736" b="1" dirty="0" err="1">
                <a:solidFill>
                  <a:srgbClr val="0070C0"/>
                </a:solidFill>
              </a:rPr>
              <a:t>Jawa</a:t>
            </a:r>
            <a:r>
              <a:rPr lang="en-US" sz="736" b="1" dirty="0">
                <a:solidFill>
                  <a:srgbClr val="0070C0"/>
                </a:solidFill>
              </a:rPr>
              <a:t> Timur having similar price ranges</a:t>
            </a:r>
            <a:r>
              <a:rPr lang="en-US" sz="736" dirty="0"/>
              <a:t>, while DI Yogyakarta has lower quartile values, indicating more </a:t>
            </a:r>
            <a:r>
              <a:rPr lang="en-US" sz="736" b="1" dirty="0">
                <a:solidFill>
                  <a:srgbClr val="FF0000"/>
                </a:solidFill>
              </a:rPr>
              <a:t>affordable</a:t>
            </a:r>
            <a:r>
              <a:rPr lang="en-US" sz="736" dirty="0"/>
              <a:t> options within the province.</a:t>
            </a:r>
            <a:endParaRPr lang="en-US" sz="736" dirty="0"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A856067-9109-F3B3-D36A-A7C97BC34088}"/>
              </a:ext>
            </a:extLst>
          </p:cNvPr>
          <p:cNvSpPr txBox="1"/>
          <p:nvPr/>
        </p:nvSpPr>
        <p:spPr>
          <a:xfrm>
            <a:off x="2942098" y="1906255"/>
            <a:ext cx="2625400" cy="23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858" b="1" u="sng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Residential Price In Java</a:t>
            </a:r>
            <a:endParaRPr lang="en-ID" sz="858" b="1" u="sng" dirty="0">
              <a:solidFill>
                <a:srgbClr val="0070C0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948315-ACB3-5294-7268-0E4E6581D733}"/>
              </a:ext>
            </a:extLst>
          </p:cNvPr>
          <p:cNvSpPr txBox="1"/>
          <p:nvPr/>
        </p:nvSpPr>
        <p:spPr>
          <a:xfrm flipH="1">
            <a:off x="6111848" y="3167621"/>
            <a:ext cx="3593930" cy="909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736" b="1" dirty="0">
                <a:solidFill>
                  <a:srgbClr val="0070C0"/>
                </a:solidFill>
              </a:rPr>
              <a:t>Banten and </a:t>
            </a:r>
            <a:r>
              <a:rPr lang="en-US" sz="736" b="1" dirty="0" err="1">
                <a:solidFill>
                  <a:srgbClr val="0070C0"/>
                </a:solidFill>
              </a:rPr>
              <a:t>Jawa</a:t>
            </a:r>
            <a:r>
              <a:rPr lang="en-US" sz="736" b="1" dirty="0">
                <a:solidFill>
                  <a:srgbClr val="0070C0"/>
                </a:solidFill>
              </a:rPr>
              <a:t> Tengah offer the most affordable </a:t>
            </a:r>
            <a:r>
              <a:rPr lang="en-US" sz="736" dirty="0"/>
              <a:t>residential properties among the provinces in Java, with </a:t>
            </a:r>
            <a:r>
              <a:rPr lang="en-US" sz="736" dirty="0" err="1"/>
              <a:t>Jawa</a:t>
            </a:r>
            <a:r>
              <a:rPr lang="en-US" sz="736" dirty="0"/>
              <a:t> Tengah having the lowest mean and quartile values, making it a </a:t>
            </a:r>
            <a:r>
              <a:rPr lang="en-US" sz="736" b="1" dirty="0">
                <a:solidFill>
                  <a:srgbClr val="FF0000"/>
                </a:solidFill>
              </a:rPr>
              <a:t>potential market for cost-sensitive buyers.</a:t>
            </a:r>
          </a:p>
          <a:p>
            <a:pPr algn="just"/>
            <a:endParaRPr lang="en-US" sz="736" b="1" dirty="0">
              <a:solidFill>
                <a:srgbClr val="FF0000"/>
              </a:solidFill>
              <a:cs typeface="Arial" panose="020B0604020202020204" pitchFamily="34" charset="0"/>
            </a:endParaRPr>
          </a:p>
          <a:p>
            <a:pPr algn="just"/>
            <a:r>
              <a:rPr lang="en-US" sz="736" dirty="0"/>
              <a:t>The overall mean residential price across all listed provinces is approximately Rp943 million. Provinces like </a:t>
            </a:r>
            <a:r>
              <a:rPr lang="en-US" sz="736" b="1" dirty="0">
                <a:solidFill>
                  <a:srgbClr val="FF0000"/>
                </a:solidFill>
              </a:rPr>
              <a:t>DKI Jakarta and Bali exceed this average</a:t>
            </a:r>
            <a:r>
              <a:rPr lang="en-US" sz="736" dirty="0"/>
              <a:t>, while </a:t>
            </a:r>
            <a:r>
              <a:rPr lang="en-US" sz="736" dirty="0">
                <a:solidFill>
                  <a:srgbClr val="0070C0"/>
                </a:solidFill>
              </a:rPr>
              <a:t>Banten and </a:t>
            </a:r>
            <a:r>
              <a:rPr lang="en-US" sz="736" dirty="0" err="1">
                <a:solidFill>
                  <a:srgbClr val="0070C0"/>
                </a:solidFill>
              </a:rPr>
              <a:t>Jawa</a:t>
            </a:r>
            <a:r>
              <a:rPr lang="en-US" sz="736" dirty="0">
                <a:solidFill>
                  <a:srgbClr val="0070C0"/>
                </a:solidFill>
              </a:rPr>
              <a:t> Tengah fall below it.</a:t>
            </a:r>
            <a:endParaRPr lang="en-US" sz="736" b="1" dirty="0">
              <a:solidFill>
                <a:srgbClr val="0070C0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53102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F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D068DC2-EE9C-2EEC-9669-F2D84989ADC7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  <a:alphaModFix amt="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9823" b="15625"/>
          <a:stretch/>
        </p:blipFill>
        <p:spPr>
          <a:xfrm>
            <a:off x="8137823" y="1678001"/>
            <a:ext cx="4054179" cy="2528874"/>
          </a:xfrm>
          <a:prstGeom prst="rect">
            <a:avLst/>
          </a:prstGeom>
        </p:spPr>
      </p:pic>
      <p:grpSp>
        <p:nvGrpSpPr>
          <p:cNvPr id="25" name="Group 24">
            <a:extLst>
              <a:ext uri="{FF2B5EF4-FFF2-40B4-BE49-F238E27FC236}">
                <a16:creationId xmlns:a16="http://schemas.microsoft.com/office/drawing/2014/main" id="{9F00F485-E669-46E8-2E30-CFF30CAE6915}"/>
              </a:ext>
            </a:extLst>
          </p:cNvPr>
          <p:cNvGrpSpPr/>
          <p:nvPr/>
        </p:nvGrpSpPr>
        <p:grpSpPr>
          <a:xfrm>
            <a:off x="245402" y="275388"/>
            <a:ext cx="2057124" cy="394324"/>
            <a:chOff x="355569" y="1068602"/>
            <a:chExt cx="2623651" cy="502920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D00CED0B-C220-761B-9A47-279D510FAE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62479" y="1068603"/>
              <a:ext cx="502920" cy="502919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C3C54512-4CB0-5739-0ED6-F7D2554C467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476300" y="1108034"/>
              <a:ext cx="502920" cy="424057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7EE7A08E-0200-6A55-A95A-9A584BDCF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69389" y="1068602"/>
              <a:ext cx="502920" cy="502920"/>
            </a:xfrm>
            <a:prstGeom prst="rect">
              <a:avLst/>
            </a:prstGeom>
          </p:spPr>
        </p:pic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E2F94292-D01A-8384-BA95-7317563FDC1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duotone>
                <a:schemeClr val="bg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5569" y="1068602"/>
              <a:ext cx="502920" cy="502920"/>
            </a:xfrm>
            <a:prstGeom prst="rect">
              <a:avLst/>
            </a:prstGeom>
          </p:spPr>
        </p:pic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51630F3A-375B-08B4-97D1-6C9866EEFD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73730" b="15625"/>
          <a:stretch/>
        </p:blipFill>
        <p:spPr>
          <a:xfrm>
            <a:off x="0" y="1961002"/>
            <a:ext cx="4219460" cy="2245873"/>
          </a:xfrm>
          <a:prstGeom prst="rect">
            <a:avLst/>
          </a:prstGeom>
        </p:spPr>
      </p:pic>
      <p:pic>
        <p:nvPicPr>
          <p:cNvPr id="1028" name="Picture 4" descr="Fondo Tecnología PNG para descargar gratis">
            <a:extLst>
              <a:ext uri="{FF2B5EF4-FFF2-40B4-BE49-F238E27FC236}">
                <a16:creationId xmlns:a16="http://schemas.microsoft.com/office/drawing/2014/main" id="{C4760A55-DC24-9BFA-C383-00C3BA4ECA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007" y="2103436"/>
            <a:ext cx="4206873" cy="21034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2738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263</TotalTime>
  <Words>514</Words>
  <Application>Microsoft Office PowerPoint</Application>
  <PresentationFormat>Custom</PresentationFormat>
  <Paragraphs>91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Bahnschrift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Akhmad Adham Nur Husaen</dc:creator>
  <cp:lastModifiedBy>Ahmad Farhan</cp:lastModifiedBy>
  <cp:revision>4</cp:revision>
  <dcterms:created xsi:type="dcterms:W3CDTF">2024-07-21T08:30:03Z</dcterms:created>
  <dcterms:modified xsi:type="dcterms:W3CDTF">2025-05-08T10:55:02Z</dcterms:modified>
</cp:coreProperties>
</file>